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59" r:id="rId5"/>
    <p:sldId id="260" r:id="rId6"/>
    <p:sldId id="278" r:id="rId7"/>
    <p:sldId id="261" r:id="rId8"/>
    <p:sldId id="283" r:id="rId9"/>
    <p:sldId id="263" r:id="rId10"/>
    <p:sldId id="280" r:id="rId11"/>
    <p:sldId id="264" r:id="rId12"/>
    <p:sldId id="289" r:id="rId13"/>
    <p:sldId id="266" r:id="rId14"/>
    <p:sldId id="268" r:id="rId15"/>
    <p:sldId id="267" r:id="rId16"/>
    <p:sldId id="269" r:id="rId17"/>
    <p:sldId id="281" r:id="rId18"/>
    <p:sldId id="295" r:id="rId19"/>
    <p:sldId id="286" r:id="rId20"/>
    <p:sldId id="271" r:id="rId21"/>
    <p:sldId id="287" r:id="rId22"/>
    <p:sldId id="272" r:id="rId23"/>
    <p:sldId id="291" r:id="rId24"/>
    <p:sldId id="273" r:id="rId25"/>
    <p:sldId id="288" r:id="rId26"/>
    <p:sldId id="293" r:id="rId27"/>
    <p:sldId id="285" r:id="rId28"/>
    <p:sldId id="290" r:id="rId29"/>
    <p:sldId id="284" r:id="rId30"/>
    <p:sldId id="276" r:id="rId31"/>
    <p:sldId id="274" r:id="rId32"/>
    <p:sldId id="292" r:id="rId33"/>
    <p:sldId id="29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484" autoAdjust="0"/>
  </p:normalViewPr>
  <p:slideViewPr>
    <p:cSldViewPr snapToGrid="0">
      <p:cViewPr varScale="1">
        <p:scale>
          <a:sx n="91" d="100"/>
          <a:sy n="91" d="100"/>
        </p:scale>
        <p:origin x="135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6B6938-D1CC-4DE4-8A72-71236D85BEBD}" type="datetimeFigureOut">
              <a:rPr lang="en-IN" smtClean="0"/>
              <a:t>05-10-2025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FE34E7-3686-42F2-A133-9C630190E619}" type="slidenum">
              <a:rPr lang="en-IN" smtClean="0"/>
              <a:t>‹#›</a:t>
            </a:fld>
            <a:endParaRPr lang="en-IN"/>
          </a:p>
        </p:txBody>
      </p:sp>
    </p:spTree>
    <p:extLst>
      <p:ext uri="{BB962C8B-B14F-4D97-AF65-F5344CB8AC3E}">
        <p14:creationId xmlns:p14="http://schemas.microsoft.com/office/powerpoint/2010/main" val="3468549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AFE34E7-3686-42F2-A133-9C630190E619}" type="slidenum">
              <a:rPr lang="en-IN" smtClean="0"/>
              <a:t>2</a:t>
            </a:fld>
            <a:endParaRPr lang="en-IN"/>
          </a:p>
        </p:txBody>
      </p:sp>
    </p:spTree>
    <p:extLst>
      <p:ext uri="{BB962C8B-B14F-4D97-AF65-F5344CB8AC3E}">
        <p14:creationId xmlns:p14="http://schemas.microsoft.com/office/powerpoint/2010/main" val="1384359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Medical images can be ambiguous. On the left side you can see the lung CT scan images showing potential abnormalities, and to the right of it you see the annotation from 4 independent expert graders. We can observe that, they vary significantly. </a:t>
            </a:r>
            <a:endParaRPr lang="en-IN" dirty="0"/>
          </a:p>
        </p:txBody>
      </p:sp>
      <p:sp>
        <p:nvSpPr>
          <p:cNvPr id="4" name="Slide Number Placeholder 3"/>
          <p:cNvSpPr>
            <a:spLocks noGrp="1"/>
          </p:cNvSpPr>
          <p:nvPr>
            <p:ph type="sldNum" sz="quarter" idx="5"/>
          </p:nvPr>
        </p:nvSpPr>
        <p:spPr/>
        <p:txBody>
          <a:bodyPr/>
          <a:lstStyle/>
          <a:p>
            <a:fld id="{EAFE34E7-3686-42F2-A133-9C630190E619}" type="slidenum">
              <a:rPr lang="en-IN" smtClean="0"/>
              <a:t>4</a:t>
            </a:fld>
            <a:endParaRPr lang="en-IN"/>
          </a:p>
        </p:txBody>
      </p:sp>
    </p:spTree>
    <p:extLst>
      <p:ext uri="{BB962C8B-B14F-4D97-AF65-F5344CB8AC3E}">
        <p14:creationId xmlns:p14="http://schemas.microsoft.com/office/powerpoint/2010/main" val="1863256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Semantic segmentation is usually </a:t>
            </a:r>
            <a:r>
              <a:rPr lang="en-US" sz="1200" b="0" i="0" kern="1200" dirty="0">
                <a:solidFill>
                  <a:schemeClr val="tx1"/>
                </a:solidFill>
                <a:effectLst/>
                <a:latin typeface="+mn-lt"/>
                <a:ea typeface="+mn-ea"/>
                <a:cs typeface="+mn-cs"/>
              </a:rPr>
              <a:t>approached in a deterministic fashion. </a:t>
            </a:r>
            <a:r>
              <a:rPr lang="en-IN" sz="1200" b="0" i="0" kern="1200" dirty="0">
                <a:solidFill>
                  <a:schemeClr val="tx1"/>
                </a:solidFill>
                <a:effectLst/>
                <a:latin typeface="+mn-lt"/>
                <a:ea typeface="+mn-ea"/>
                <a:cs typeface="+mn-cs"/>
              </a:rPr>
              <a:t>That is, assumes </a:t>
            </a:r>
            <a:r>
              <a:rPr lang="en-US" sz="1200" b="0" i="0" kern="1200" dirty="0">
                <a:solidFill>
                  <a:schemeClr val="tx1"/>
                </a:solidFill>
                <a:effectLst/>
                <a:latin typeface="+mn-lt"/>
                <a:ea typeface="+mn-ea"/>
                <a:cs typeface="+mn-cs"/>
              </a:rPr>
              <a:t>one to one mapping between images and segmentations. And U-Net is one of the successful deterministic model. However, this does not account for the ambiguities in medical images.</a:t>
            </a:r>
            <a:endParaRPr lang="en-IN" dirty="0"/>
          </a:p>
        </p:txBody>
      </p:sp>
      <p:sp>
        <p:nvSpPr>
          <p:cNvPr id="4" name="Slide Number Placeholder 3"/>
          <p:cNvSpPr>
            <a:spLocks noGrp="1"/>
          </p:cNvSpPr>
          <p:nvPr>
            <p:ph type="sldNum" sz="quarter" idx="5"/>
          </p:nvPr>
        </p:nvSpPr>
        <p:spPr/>
        <p:txBody>
          <a:bodyPr/>
          <a:lstStyle/>
          <a:p>
            <a:fld id="{EAFE34E7-3686-42F2-A133-9C630190E619}" type="slidenum">
              <a:rPr lang="en-IN" smtClean="0"/>
              <a:t>5</a:t>
            </a:fld>
            <a:endParaRPr lang="en-IN"/>
          </a:p>
        </p:txBody>
      </p:sp>
    </p:spTree>
    <p:extLst>
      <p:ext uri="{BB962C8B-B14F-4D97-AF65-F5344CB8AC3E}">
        <p14:creationId xmlns:p14="http://schemas.microsoft.com/office/powerpoint/2010/main" val="3146886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they propose an HPU-Net, the objective of which is to model distributions of plausible segmentations given an image. They combine U-Net with conditional variational auto encoder.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the HPU-NET is based on their previous work from the paper "probabilistic U-net for segmentation of ambiguous images".</a:t>
            </a:r>
          </a:p>
          <a:p>
            <a:endParaRPr lang="en-US" dirty="0"/>
          </a:p>
          <a:p>
            <a:endParaRPr lang="en-IN" dirty="0"/>
          </a:p>
        </p:txBody>
      </p:sp>
      <p:sp>
        <p:nvSpPr>
          <p:cNvPr id="4" name="Slide Number Placeholder 3"/>
          <p:cNvSpPr>
            <a:spLocks noGrp="1"/>
          </p:cNvSpPr>
          <p:nvPr>
            <p:ph type="sldNum" sz="quarter" idx="5"/>
          </p:nvPr>
        </p:nvSpPr>
        <p:spPr/>
        <p:txBody>
          <a:bodyPr/>
          <a:lstStyle/>
          <a:p>
            <a:fld id="{EAFE34E7-3686-42F2-A133-9C630190E619}" type="slidenum">
              <a:rPr lang="en-IN" smtClean="0"/>
              <a:t>6</a:t>
            </a:fld>
            <a:endParaRPr lang="en-IN"/>
          </a:p>
        </p:txBody>
      </p:sp>
    </p:spTree>
    <p:extLst>
      <p:ext uri="{BB962C8B-B14F-4D97-AF65-F5344CB8AC3E}">
        <p14:creationId xmlns:p14="http://schemas.microsoft.com/office/powerpoint/2010/main" val="2747335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sPU</a:t>
            </a:r>
            <a:r>
              <a:rPr lang="en-US" dirty="0"/>
              <a:t>-Net:</a:t>
            </a:r>
          </a:p>
          <a:p>
            <a:endParaRPr lang="en-US" dirty="0"/>
          </a:p>
          <a:p>
            <a:r>
              <a:rPr lang="en-US" dirty="0"/>
              <a:t>Sampling</a:t>
            </a:r>
          </a:p>
          <a:p>
            <a:endParaRPr lang="en-US" dirty="0"/>
          </a:p>
          <a:p>
            <a:r>
              <a:rPr lang="en-US" dirty="0"/>
              <a:t>During inference, it uses a prior net, which is conditioned on the image to predict a distribution over a low-dimensional latent space. This prior distribution is modelled as an axis aligned Gaussian, with mean (mu)and variance (sigma).  </a:t>
            </a:r>
          </a:p>
          <a:p>
            <a:r>
              <a:rPr lang="en-US" dirty="0"/>
              <a:t>Random samples are drawn from this prior distribution and are broadcasted to N channels (N=6), concatenated with the last activation map of U-net and passed through a combiner head (three 1 x 1 convolutions) so as to produce consistent segmentations for each such sample.</a:t>
            </a:r>
          </a:p>
          <a:p>
            <a:endParaRPr lang="en-IN" dirty="0"/>
          </a:p>
        </p:txBody>
      </p:sp>
      <p:sp>
        <p:nvSpPr>
          <p:cNvPr id="4" name="Slide Number Placeholder 3"/>
          <p:cNvSpPr>
            <a:spLocks noGrp="1"/>
          </p:cNvSpPr>
          <p:nvPr>
            <p:ph type="sldNum" sz="quarter" idx="5"/>
          </p:nvPr>
        </p:nvSpPr>
        <p:spPr/>
        <p:txBody>
          <a:bodyPr/>
          <a:lstStyle/>
          <a:p>
            <a:fld id="{EAFE34E7-3686-42F2-A133-9C630190E619}" type="slidenum">
              <a:rPr lang="en-IN" smtClean="0"/>
              <a:t>7</a:t>
            </a:fld>
            <a:endParaRPr lang="en-IN"/>
          </a:p>
        </p:txBody>
      </p:sp>
    </p:spTree>
    <p:extLst>
      <p:ext uri="{BB962C8B-B14F-4D97-AF65-F5344CB8AC3E}">
        <p14:creationId xmlns:p14="http://schemas.microsoft.com/office/powerpoint/2010/main" val="2952795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3758D-7120-F6C6-FB9C-6BEFBA7608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A6310E-BD87-8C47-4869-A7F96DDD2E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7C0F0F-2B0B-E5ED-75DA-481B5CB18227}"/>
              </a:ext>
            </a:extLst>
          </p:cNvPr>
          <p:cNvSpPr>
            <a:spLocks noGrp="1"/>
          </p:cNvSpPr>
          <p:nvPr>
            <p:ph type="body" idx="1"/>
          </p:nvPr>
        </p:nvSpPr>
        <p:spPr/>
        <p:txBody>
          <a:bodyPr/>
          <a:lstStyle/>
          <a:p>
            <a:r>
              <a:rPr lang="en-US" dirty="0" err="1"/>
              <a:t>sPU</a:t>
            </a:r>
            <a:r>
              <a:rPr lang="en-US" dirty="0"/>
              <a:t>-Net:</a:t>
            </a:r>
          </a:p>
          <a:p>
            <a:endParaRPr lang="en-US" dirty="0"/>
          </a:p>
          <a:p>
            <a:r>
              <a:rPr lang="en-US" dirty="0"/>
              <a:t>Sampling</a:t>
            </a:r>
          </a:p>
          <a:p>
            <a:endParaRPr lang="en-US" dirty="0"/>
          </a:p>
          <a:p>
            <a:r>
              <a:rPr lang="en-US" dirty="0"/>
              <a:t>During inference, it uses a prior net, which is conditioned on the image to predict a distribution over a low-dimensional latent space. This prior distribution is modelled as an axis aligned Gaussian, with mean (mu)and variance (sigma).  </a:t>
            </a:r>
          </a:p>
          <a:p>
            <a:r>
              <a:rPr lang="en-US" dirty="0"/>
              <a:t>Random samples are drawn from this prior distribution and are broadcasted to N channels (N=6), concatenated with the last activation map of U-net and passed through a combiner head (three 1 x 1 convolutions) so as to produce consistent segmentations for each such sample.</a:t>
            </a:r>
          </a:p>
          <a:p>
            <a:endParaRPr lang="en-IN" dirty="0"/>
          </a:p>
        </p:txBody>
      </p:sp>
      <p:sp>
        <p:nvSpPr>
          <p:cNvPr id="4" name="Slide Number Placeholder 3">
            <a:extLst>
              <a:ext uri="{FF2B5EF4-FFF2-40B4-BE49-F238E27FC236}">
                <a16:creationId xmlns:a16="http://schemas.microsoft.com/office/drawing/2014/main" id="{3666F6A2-8F45-B732-72F2-5404D104B310}"/>
              </a:ext>
            </a:extLst>
          </p:cNvPr>
          <p:cNvSpPr>
            <a:spLocks noGrp="1"/>
          </p:cNvSpPr>
          <p:nvPr>
            <p:ph type="sldNum" sz="quarter" idx="5"/>
          </p:nvPr>
        </p:nvSpPr>
        <p:spPr/>
        <p:txBody>
          <a:bodyPr/>
          <a:lstStyle/>
          <a:p>
            <a:fld id="{EAFE34E7-3686-42F2-A133-9C630190E619}" type="slidenum">
              <a:rPr lang="en-IN" smtClean="0"/>
              <a:t>8</a:t>
            </a:fld>
            <a:endParaRPr lang="en-IN"/>
          </a:p>
        </p:txBody>
      </p:sp>
    </p:spTree>
    <p:extLst>
      <p:ext uri="{BB962C8B-B14F-4D97-AF65-F5344CB8AC3E}">
        <p14:creationId xmlns:p14="http://schemas.microsoft.com/office/powerpoint/2010/main" val="3397338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a:t>
            </a:r>
          </a:p>
          <a:p>
            <a:endParaRPr lang="en-US" dirty="0"/>
          </a:p>
          <a:p>
            <a:r>
              <a:rPr lang="en-US" dirty="0"/>
              <a:t>During training alongside the prior net, a posterior net is added, which is conditioned on both the image and its ground truth. It predicts an axis aligned Gaussian with mean and variance over the a latent space. Random sample from the posterior distribution is concatenated with the last U-net activation map, passes through a combiner to obtain a prediction. </a:t>
            </a:r>
          </a:p>
          <a:p>
            <a:endParaRPr lang="en-US" dirty="0"/>
          </a:p>
          <a:p>
            <a:r>
              <a:rPr lang="en-US" dirty="0"/>
              <a:t>The loss is the pixel-wise cross-entropy between prediction and ground truth and a weighted KL term that pulls the posterior and prior towards each other. So that, over the dataset, the prior learns to cover the space of plausible segmentation variants for each image. </a:t>
            </a:r>
            <a:endParaRPr lang="en-IN" dirty="0"/>
          </a:p>
        </p:txBody>
      </p:sp>
      <p:sp>
        <p:nvSpPr>
          <p:cNvPr id="4" name="Slide Number Placeholder 3"/>
          <p:cNvSpPr>
            <a:spLocks noGrp="1"/>
          </p:cNvSpPr>
          <p:nvPr>
            <p:ph type="sldNum" sz="quarter" idx="5"/>
          </p:nvPr>
        </p:nvSpPr>
        <p:spPr/>
        <p:txBody>
          <a:bodyPr/>
          <a:lstStyle/>
          <a:p>
            <a:fld id="{EAFE34E7-3686-42F2-A133-9C630190E619}" type="slidenum">
              <a:rPr lang="en-IN" smtClean="0"/>
              <a:t>9</a:t>
            </a:fld>
            <a:endParaRPr lang="en-IN"/>
          </a:p>
        </p:txBody>
      </p:sp>
    </p:spTree>
    <p:extLst>
      <p:ext uri="{BB962C8B-B14F-4D97-AF65-F5344CB8AC3E}">
        <p14:creationId xmlns:p14="http://schemas.microsoft.com/office/powerpoint/2010/main" val="3540185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Sampling :</a:t>
            </a:r>
            <a:br>
              <a:rPr lang="en-US" dirty="0"/>
            </a:br>
            <a:r>
              <a:rPr lang="en-US" sz="1200" b="0" i="0" u="none" strike="noStrike" kern="1200" baseline="0" dirty="0">
                <a:solidFill>
                  <a:schemeClr val="tx1"/>
                </a:solidFill>
                <a:latin typeface="+mn-lt"/>
                <a:ea typeface="+mn-ea"/>
                <a:cs typeface="+mn-cs"/>
              </a:rPr>
              <a:t>In a conventional U-Net, the U-Net decoder’s features of every resolution are up-sampled and then concatenated with the features of the U-Net’s encoder from</a:t>
            </a:r>
          </a:p>
          <a:p>
            <a:r>
              <a:rPr lang="en-US" sz="1200" b="0" i="0" u="none" strike="noStrike" kern="1200" baseline="0" dirty="0">
                <a:solidFill>
                  <a:schemeClr val="tx1"/>
                </a:solidFill>
                <a:latin typeface="+mn-lt"/>
                <a:ea typeface="+mn-ea"/>
                <a:cs typeface="+mn-cs"/>
              </a:rPr>
              <a:t>the respective resolution above. In our proposed architecture, sampling uses a hierarchical conditional prior inside the U-Net decoder.</a:t>
            </a:r>
          </a:p>
          <a:p>
            <a:r>
              <a:rPr lang="en-US" sz="1200" b="0" i="0" u="none" strike="noStrike" kern="1200" baseline="0" dirty="0">
                <a:solidFill>
                  <a:schemeClr val="tx1"/>
                </a:solidFill>
                <a:latin typeface="+mn-lt"/>
                <a:ea typeface="+mn-ea"/>
                <a:cs typeface="+mn-cs"/>
              </a:rPr>
              <a:t>After inferring from the U-net encoder, at the bottom of the U, a Gaussian with mean and variance is predicted  via 1 x 1 convolutions. which is then sampled and added to the decoder features. Followed by usual decoder steps- up sample, concatenate with the encoder feature. This process is repeated at every decoder scale.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Training:</a:t>
            </a:r>
            <a:br>
              <a:rPr lang="en-US" sz="1200" b="0" i="0" u="none" strike="noStrike" kern="1200" baseline="0" dirty="0">
                <a:solidFill>
                  <a:schemeClr val="tx1"/>
                </a:solidFill>
                <a:latin typeface="+mn-lt"/>
                <a:ea typeface="+mn-ea"/>
                <a:cs typeface="+mn-cs"/>
              </a:rPr>
            </a:br>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Training uses a hierarchical posterior that mirrors the hierarchical prior inside the U-Net decoder. The posterior Q is modeled in form of a separate network.</a:t>
            </a:r>
          </a:p>
          <a:p>
            <a:r>
              <a:rPr lang="en-US" sz="1200" b="0" i="0" u="none" strike="noStrike" kern="1200" baseline="0" dirty="0">
                <a:solidFill>
                  <a:schemeClr val="tx1"/>
                </a:solidFill>
                <a:latin typeface="+mn-lt"/>
                <a:ea typeface="+mn-ea"/>
                <a:cs typeface="+mn-cs"/>
              </a:rPr>
              <a:t>For each decoder scale, the current decoder features together with the ground-truth mask 𝑌 are used to predict a Gaussian (mean and variance maps via 1×1 convolutions).</a:t>
            </a:r>
          </a:p>
          <a:p>
            <a:r>
              <a:rPr lang="en-US" sz="1200" b="0" i="0" u="none" strike="noStrike" kern="1200" baseline="0" dirty="0">
                <a:solidFill>
                  <a:schemeClr val="tx1"/>
                </a:solidFill>
                <a:latin typeface="+mn-lt"/>
                <a:ea typeface="+mn-ea"/>
                <a:cs typeface="+mn-cs"/>
              </a:rPr>
              <a:t>We sample the latent at that scale from this posterior and pass it through the decoder; the goal is to reconstruct the given segmentation Y.</a:t>
            </a:r>
          </a:p>
          <a:p>
            <a:endParaRPr lang="en-IN" dirty="0"/>
          </a:p>
          <a:p>
            <a:endParaRPr lang="en-IN" dirty="0"/>
          </a:p>
          <a:p>
            <a:r>
              <a:rPr lang="en-US" dirty="0"/>
              <a:t>The reconstruction loss is pixel-wise cross-entropy between the prediction and Y. In addition, at every scale we add a KL term that matches the posterior at that scale to the prior at that scale (conditioned on the coarser </a:t>
            </a:r>
            <a:r>
              <a:rPr lang="en-US" dirty="0" err="1"/>
              <a:t>latents</a:t>
            </a:r>
            <a:r>
              <a:rPr lang="en-US" dirty="0"/>
              <a:t>).</a:t>
            </a:r>
          </a:p>
          <a:p>
            <a:r>
              <a:rPr lang="en-US" dirty="0"/>
              <a:t>Together, this is the standard ELBO: reconstruction term plus a weighted sum of per-scale KL terms.</a:t>
            </a:r>
          </a:p>
          <a:p>
            <a:endParaRPr lang="en-US" dirty="0"/>
          </a:p>
          <a:p>
            <a:r>
              <a:rPr lang="en-US" dirty="0"/>
              <a:t>In practice, plain ELBO led to under-trained priors. So, we use GECO: enforce a target reconstruction level and use a Lagrange multiplier to balance reconstruction vs. KL over training.</a:t>
            </a:r>
          </a:p>
          <a:p>
            <a:r>
              <a:rPr lang="en-US" dirty="0"/>
              <a:t>Early on, GECO puts more pressure on reconstruction; once the target is reached, it gradually shifts pressure to the KL so the prior aligns with the posterior.</a:t>
            </a:r>
          </a:p>
          <a:p>
            <a:endParaRPr lang="en-US" dirty="0"/>
          </a:p>
          <a:p>
            <a:r>
              <a:rPr lang="en-US" dirty="0"/>
              <a:t>We also apply online hard-negative mining: during backprop, we keep only the worst pixels in the batch (the top-k percentile of errors, with k=2%) and stochastically pick that percentile.</a:t>
            </a:r>
          </a:p>
          <a:p>
            <a:r>
              <a:rPr lang="en-US" dirty="0"/>
              <a:t>This focuses learning on the most difficult pixels and stabilizes training.</a:t>
            </a:r>
          </a:p>
          <a:p>
            <a:endParaRPr lang="en-US" dirty="0"/>
          </a:p>
          <a:p>
            <a:r>
              <a:rPr lang="en-US" dirty="0"/>
              <a:t>At test time, the posterior is not used. We sample </a:t>
            </a:r>
            <a:r>
              <a:rPr lang="en-US" dirty="0" err="1"/>
              <a:t>latents</a:t>
            </a:r>
            <a:r>
              <a:rPr lang="en-US" dirty="0"/>
              <a:t> only from the learned prior and run the decoder to generate diverse, consistent segmentations.</a:t>
            </a:r>
            <a:endParaRPr lang="en-IN" dirty="0"/>
          </a:p>
        </p:txBody>
      </p:sp>
      <p:sp>
        <p:nvSpPr>
          <p:cNvPr id="4" name="Slide Number Placeholder 3"/>
          <p:cNvSpPr>
            <a:spLocks noGrp="1"/>
          </p:cNvSpPr>
          <p:nvPr>
            <p:ph type="sldNum" sz="quarter" idx="5"/>
          </p:nvPr>
        </p:nvSpPr>
        <p:spPr/>
        <p:txBody>
          <a:bodyPr/>
          <a:lstStyle/>
          <a:p>
            <a:fld id="{EAFE34E7-3686-42F2-A133-9C630190E619}" type="slidenum">
              <a:rPr lang="en-IN" smtClean="0"/>
              <a:t>11</a:t>
            </a:fld>
            <a:endParaRPr lang="en-IN"/>
          </a:p>
        </p:txBody>
      </p:sp>
    </p:spTree>
    <p:extLst>
      <p:ext uri="{BB962C8B-B14F-4D97-AF65-F5344CB8AC3E}">
        <p14:creationId xmlns:p14="http://schemas.microsoft.com/office/powerpoint/2010/main" val="1823619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observed that the HPU-net with hierarchical latent sampling captured both the global structure and local fine details consistently well compared to the </a:t>
            </a:r>
            <a:r>
              <a:rPr lang="en-US" dirty="0" err="1"/>
              <a:t>sPU</a:t>
            </a:r>
            <a:r>
              <a:rPr lang="en-US" dirty="0"/>
              <a:t>-Net.</a:t>
            </a:r>
            <a:endParaRPr lang="en-IN" dirty="0"/>
          </a:p>
        </p:txBody>
      </p:sp>
      <p:sp>
        <p:nvSpPr>
          <p:cNvPr id="4" name="Slide Number Placeholder 3"/>
          <p:cNvSpPr>
            <a:spLocks noGrp="1"/>
          </p:cNvSpPr>
          <p:nvPr>
            <p:ph type="sldNum" sz="quarter" idx="5"/>
          </p:nvPr>
        </p:nvSpPr>
        <p:spPr/>
        <p:txBody>
          <a:bodyPr/>
          <a:lstStyle/>
          <a:p>
            <a:fld id="{EAFE34E7-3686-42F2-A133-9C630190E619}" type="slidenum">
              <a:rPr lang="en-IN" smtClean="0"/>
              <a:t>14</a:t>
            </a:fld>
            <a:endParaRPr lang="en-IN"/>
          </a:p>
        </p:txBody>
      </p:sp>
    </p:spTree>
    <p:extLst>
      <p:ext uri="{BB962C8B-B14F-4D97-AF65-F5344CB8AC3E}">
        <p14:creationId xmlns:p14="http://schemas.microsoft.com/office/powerpoint/2010/main" val="24459181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AFE34E7-3686-42F2-A133-9C630190E619}" type="slidenum">
              <a:rPr lang="en-IN" smtClean="0"/>
              <a:t>19</a:t>
            </a:fld>
            <a:endParaRPr lang="en-IN"/>
          </a:p>
        </p:txBody>
      </p:sp>
    </p:spTree>
    <p:extLst>
      <p:ext uri="{BB962C8B-B14F-4D97-AF65-F5344CB8AC3E}">
        <p14:creationId xmlns:p14="http://schemas.microsoft.com/office/powerpoint/2010/main" val="25889764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Training Objective :</a:t>
            </a:r>
          </a:p>
          <a:p>
            <a:endParaRPr lang="en-US" b="1" dirty="0"/>
          </a:p>
          <a:p>
            <a:r>
              <a:rPr lang="en-US" b="0" dirty="0"/>
              <a:t>Minimizing LELBO leads to sub-optimally converged priors ____ GECO. It adds in a constraint on the reconstruction term and thus dynamically balances it with the KL terms.</a:t>
            </a:r>
          </a:p>
          <a:p>
            <a:endParaRPr lang="en-US" b="0" dirty="0"/>
          </a:p>
          <a:p>
            <a:r>
              <a:rPr lang="en-US" b="1" dirty="0"/>
              <a:t>κ</a:t>
            </a:r>
            <a:r>
              <a:rPr lang="en-US" b="0" dirty="0"/>
              <a:t> is chosen as the </a:t>
            </a:r>
            <a:r>
              <a:rPr lang="en-US" b="1" dirty="0"/>
              <a:t>desired reconstruction loss value </a:t>
            </a:r>
            <a:r>
              <a:rPr lang="en-US" b="0" dirty="0"/>
              <a:t>and the Lagrange </a:t>
            </a:r>
            <a:r>
              <a:rPr lang="en-US" b="1" dirty="0"/>
              <a:t>multiplier λ</a:t>
            </a:r>
            <a:r>
              <a:rPr lang="en-US" b="0" dirty="0"/>
              <a:t> is updated as a function of the </a:t>
            </a:r>
            <a:r>
              <a:rPr lang="en-US" b="1" dirty="0"/>
              <a:t>exponential moving average of the reconstruction constraint</a:t>
            </a:r>
            <a:r>
              <a:rPr lang="en-US" b="0" dirty="0"/>
              <a:t>. </a:t>
            </a:r>
          </a:p>
          <a:p>
            <a:r>
              <a:rPr lang="en-US" b="0" dirty="0"/>
              <a:t>This formulation initially puts high pressure on the reconstruction and once the desired κ is reached it increasingly moves the pressure over on the KL-term.</a:t>
            </a:r>
          </a:p>
          <a:p>
            <a:endParaRPr lang="en-US" b="0" dirty="0"/>
          </a:p>
          <a:p>
            <a:r>
              <a:rPr lang="en-US" b="0" dirty="0"/>
              <a:t>Online hard negative mining, with k = 0.02, only worst 2% pixels are back propagated. And sample from a Gumbel- </a:t>
            </a:r>
            <a:r>
              <a:rPr lang="en-US" b="0" dirty="0" err="1"/>
              <a:t>Softmax</a:t>
            </a:r>
            <a:r>
              <a:rPr lang="en-US" b="0" dirty="0"/>
              <a:t> distribution. Over </a:t>
            </a:r>
            <a:r>
              <a:rPr lang="en-US" b="0" dirty="0" err="1"/>
              <a:t>Lrec</a:t>
            </a:r>
            <a:r>
              <a:rPr lang="en-US" b="0" dirty="0"/>
              <a:t> per pixel.</a:t>
            </a:r>
          </a:p>
          <a:p>
            <a:endParaRPr lang="en-US" b="0" dirty="0"/>
          </a:p>
          <a:p>
            <a:r>
              <a:rPr lang="en-US" b="1" dirty="0"/>
              <a:t>Metrics (IOU recon) </a:t>
            </a:r>
            <a:r>
              <a:rPr lang="en-US" dirty="0"/>
              <a:t>:</a:t>
            </a:r>
          </a:p>
          <a:p>
            <a:endParaRPr lang="en-US" dirty="0"/>
          </a:p>
          <a:p>
            <a:r>
              <a:rPr lang="en-US" dirty="0"/>
              <a:t>the </a:t>
            </a:r>
            <a:r>
              <a:rPr lang="en-US" b="1" dirty="0" err="1"/>
              <a:t>IoU</a:t>
            </a:r>
            <a:r>
              <a:rPr lang="en-US" b="1" dirty="0"/>
              <a:t>-metric</a:t>
            </a:r>
            <a:r>
              <a:rPr lang="en-US" dirty="0"/>
              <a:t>, is calculated with respect to the stochastic foreground classes only.</a:t>
            </a:r>
          </a:p>
          <a:p>
            <a:endParaRPr lang="en-US" dirty="0"/>
          </a:p>
          <a:p>
            <a:r>
              <a:rPr lang="en-US" dirty="0"/>
              <a:t>Not globally across all the test set pixels as is regularly done in semantic segmentation challenges, but </a:t>
            </a:r>
            <a:r>
              <a:rPr lang="en-US" b="1" dirty="0"/>
              <a:t>calculate it across the pixels of each image and then average across all test set images. </a:t>
            </a:r>
          </a:p>
          <a:p>
            <a:endParaRPr lang="en-US" dirty="0"/>
          </a:p>
          <a:p>
            <a:r>
              <a:rPr lang="en-US" dirty="0"/>
              <a:t>For the LIDC dataset, a correctly predicted </a:t>
            </a:r>
            <a:r>
              <a:rPr lang="en-US" b="1" dirty="0"/>
              <a:t>absence as </a:t>
            </a:r>
            <a:r>
              <a:rPr lang="en-US" b="1" dirty="0" err="1"/>
              <a:t>IoU</a:t>
            </a:r>
            <a:r>
              <a:rPr lang="en-US" b="1" dirty="0"/>
              <a:t> = 1</a:t>
            </a:r>
            <a:r>
              <a:rPr lang="en-US" dirty="0"/>
              <a:t>.</a:t>
            </a:r>
            <a:endParaRPr lang="en-IN" dirty="0"/>
          </a:p>
        </p:txBody>
      </p:sp>
      <p:sp>
        <p:nvSpPr>
          <p:cNvPr id="4" name="Slide Number Placeholder 3"/>
          <p:cNvSpPr>
            <a:spLocks noGrp="1"/>
          </p:cNvSpPr>
          <p:nvPr>
            <p:ph type="sldNum" sz="quarter" idx="5"/>
          </p:nvPr>
        </p:nvSpPr>
        <p:spPr/>
        <p:txBody>
          <a:bodyPr/>
          <a:lstStyle/>
          <a:p>
            <a:fld id="{EAFE34E7-3686-42F2-A133-9C630190E619}" type="slidenum">
              <a:rPr lang="en-IN" smtClean="0"/>
              <a:t>30</a:t>
            </a:fld>
            <a:endParaRPr lang="en-IN"/>
          </a:p>
        </p:txBody>
      </p:sp>
    </p:spTree>
    <p:extLst>
      <p:ext uri="{BB962C8B-B14F-4D97-AF65-F5344CB8AC3E}">
        <p14:creationId xmlns:p14="http://schemas.microsoft.com/office/powerpoint/2010/main" val="1383954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Sampling : </a:t>
                </a:r>
              </a:p>
              <a:p>
                <a:r>
                  <a:rPr lang="en-US" dirty="0"/>
                  <a:t>1. </a:t>
                </a:r>
                <a:r>
                  <a:rPr lang="en-US" sz="1200" dirty="0"/>
                  <a:t>Sampling from the corresponding Gaussian</a:t>
                </a:r>
                <a:r>
                  <a:rPr lang="en-US" sz="1200" baseline="0" dirty="0"/>
                  <a:t> </a:t>
                </a:r>
                <a:r>
                  <a:rPr lang="en-US" sz="1200" dirty="0"/>
                  <a:t>distribution results in the spatial </a:t>
                </a:r>
                <a:r>
                  <a:rPr lang="en-US" sz="1200" dirty="0" err="1"/>
                  <a:t>latents</a:t>
                </a:r>
                <a:r>
                  <a:rPr lang="en-US" sz="1200" dirty="0"/>
                  <a:t> </a:t>
                </a:r>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𝑖</m:t>
                        </m:r>
                      </m:sub>
                    </m:sSub>
                  </m:oMath>
                </a14:m>
                <a:r>
                  <a:rPr lang="en-IN" sz="1200" dirty="0"/>
                  <a:t>.</a:t>
                </a:r>
              </a:p>
              <a:p>
                <a:r>
                  <a:rPr lang="en-US" sz="1200" dirty="0"/>
                  <a:t>2. The hierarchical sampling results in a joint distribution for the prior that decomposes as follows.</a:t>
                </a:r>
              </a:p>
              <a:p>
                <a:endParaRPr lang="en-US" sz="1200" dirty="0"/>
              </a:p>
              <a:p>
                <a:r>
                  <a:rPr lang="en-US" sz="1200" dirty="0"/>
                  <a:t>Training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modelling a variational posterior Q(.|X, Y ) that depends on both X and Y.</a:t>
                </a:r>
                <a:endParaRPr lang="en-IN" dirty="0"/>
              </a:p>
              <a:p>
                <a:endParaRPr lang="en-IN" dirty="0"/>
              </a:p>
            </p:txBody>
          </p:sp>
        </mc:Choice>
        <mc:Fallback xmlns="">
          <p:sp>
            <p:nvSpPr>
              <p:cNvPr id="3" name="Notes Placeholder 2"/>
              <p:cNvSpPr>
                <a:spLocks noGrp="1"/>
              </p:cNvSpPr>
              <p:nvPr>
                <p:ph type="body" idx="1"/>
              </p:nvPr>
            </p:nvSpPr>
            <p:spPr/>
            <p:txBody>
              <a:bodyPr/>
              <a:lstStyle/>
              <a:p>
                <a:r>
                  <a:rPr lang="en-US" dirty="0"/>
                  <a:t>Sampling : </a:t>
                </a:r>
              </a:p>
              <a:p>
                <a:r>
                  <a:rPr lang="en-US" dirty="0"/>
                  <a:t>1. </a:t>
                </a:r>
                <a:r>
                  <a:rPr lang="en-US" sz="1200" dirty="0"/>
                  <a:t>Sampling from the corresponding Gaussian</a:t>
                </a:r>
                <a:r>
                  <a:rPr lang="en-US" sz="1200" baseline="0" dirty="0"/>
                  <a:t> </a:t>
                </a:r>
                <a:r>
                  <a:rPr lang="en-US" sz="1200" dirty="0"/>
                  <a:t>distribution results in the spatial </a:t>
                </a:r>
                <a:r>
                  <a:rPr lang="en-US" sz="1200" dirty="0" err="1"/>
                  <a:t>latents</a:t>
                </a:r>
                <a:r>
                  <a:rPr lang="en-US" sz="1200" dirty="0"/>
                  <a:t> </a:t>
                </a:r>
                <a:r>
                  <a:rPr lang="en-US" sz="1200" b="0" i="0">
                    <a:latin typeface="Cambria Math" panose="02040503050406030204" pitchFamily="18" charset="0"/>
                  </a:rPr>
                  <a:t>𝑍_𝑖</a:t>
                </a:r>
                <a:r>
                  <a:rPr lang="en-IN" sz="1200" dirty="0"/>
                  <a:t>.</a:t>
                </a:r>
              </a:p>
              <a:p>
                <a:r>
                  <a:rPr lang="en-US" sz="1200" dirty="0"/>
                  <a:t>2. The hierarchical sampling results in a joint distribution for the prior that decomposes as follows.</a:t>
                </a:r>
              </a:p>
              <a:p>
                <a:endParaRPr lang="en-US" sz="1200" dirty="0"/>
              </a:p>
              <a:p>
                <a:r>
                  <a:rPr lang="en-US" sz="1200" dirty="0"/>
                  <a:t>Training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modelling a variational posterior Q(.|X, Y ) that depends on both X and Y.</a:t>
                </a:r>
                <a:endParaRPr lang="en-IN" dirty="0"/>
              </a:p>
              <a:p>
                <a:endParaRPr lang="en-IN" dirty="0"/>
              </a:p>
            </p:txBody>
          </p:sp>
        </mc:Fallback>
      </mc:AlternateContent>
      <p:sp>
        <p:nvSpPr>
          <p:cNvPr id="4" name="Slide Number Placeholder 3"/>
          <p:cNvSpPr>
            <a:spLocks noGrp="1"/>
          </p:cNvSpPr>
          <p:nvPr>
            <p:ph type="sldNum" sz="quarter" idx="5"/>
          </p:nvPr>
        </p:nvSpPr>
        <p:spPr/>
        <p:txBody>
          <a:bodyPr/>
          <a:lstStyle/>
          <a:p>
            <a:fld id="{EAFE34E7-3686-42F2-A133-9C630190E619}" type="slidenum">
              <a:rPr lang="en-IN" smtClean="0"/>
              <a:t>31</a:t>
            </a:fld>
            <a:endParaRPr lang="en-IN"/>
          </a:p>
        </p:txBody>
      </p:sp>
    </p:spTree>
    <p:extLst>
      <p:ext uri="{BB962C8B-B14F-4D97-AF65-F5344CB8AC3E}">
        <p14:creationId xmlns:p14="http://schemas.microsoft.com/office/powerpoint/2010/main" val="7306432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20786-3554-911B-4D5C-CB4A6612F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5B933-0A43-085F-345B-5A9A866553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AECC5-1C48-40D4-0901-5A938DC1E0B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5D94594-2712-6157-AA51-7A66A7724F03}"/>
              </a:ext>
            </a:extLst>
          </p:cNvPr>
          <p:cNvSpPr>
            <a:spLocks noGrp="1"/>
          </p:cNvSpPr>
          <p:nvPr>
            <p:ph type="sldNum" sz="quarter" idx="5"/>
          </p:nvPr>
        </p:nvSpPr>
        <p:spPr/>
        <p:txBody>
          <a:bodyPr/>
          <a:lstStyle/>
          <a:p>
            <a:fld id="{EAFE34E7-3686-42F2-A133-9C630190E619}" type="slidenum">
              <a:rPr lang="en-IN" smtClean="0"/>
              <a:t>33</a:t>
            </a:fld>
            <a:endParaRPr lang="en-IN"/>
          </a:p>
        </p:txBody>
      </p:sp>
    </p:spTree>
    <p:extLst>
      <p:ext uri="{BB962C8B-B14F-4D97-AF65-F5344CB8AC3E}">
        <p14:creationId xmlns:p14="http://schemas.microsoft.com/office/powerpoint/2010/main" val="2402503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78F27-A9AD-1C22-B183-916EDE7081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72B3D81-3400-6A96-1E1B-8DCF14A8F6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BC769E-EFF4-C98C-8545-0A50FA0D1EF8}"/>
              </a:ext>
            </a:extLst>
          </p:cNvPr>
          <p:cNvSpPr>
            <a:spLocks noGrp="1"/>
          </p:cNvSpPr>
          <p:nvPr>
            <p:ph type="dt" sz="half" idx="10"/>
          </p:nvPr>
        </p:nvSpPr>
        <p:spPr/>
        <p:txBody>
          <a:bodyPr/>
          <a:lstStyle/>
          <a:p>
            <a:fld id="{AAF85F6C-BAC1-44EB-ADB5-6E7A657C65A8}" type="datetimeFigureOut">
              <a:rPr lang="en-IN" smtClean="0"/>
              <a:t>05-10-2025</a:t>
            </a:fld>
            <a:endParaRPr lang="en-IN"/>
          </a:p>
        </p:txBody>
      </p:sp>
      <p:sp>
        <p:nvSpPr>
          <p:cNvPr id="5" name="Footer Placeholder 4">
            <a:extLst>
              <a:ext uri="{FF2B5EF4-FFF2-40B4-BE49-F238E27FC236}">
                <a16:creationId xmlns:a16="http://schemas.microsoft.com/office/drawing/2014/main" id="{2F8DB3BC-CF3F-57AF-DDDB-04A911A848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A95B3E-3C16-D0F3-BC2E-C5AA9E081BA4}"/>
              </a:ext>
            </a:extLst>
          </p:cNvPr>
          <p:cNvSpPr>
            <a:spLocks noGrp="1"/>
          </p:cNvSpPr>
          <p:nvPr>
            <p:ph type="sldNum" sz="quarter" idx="12"/>
          </p:nvPr>
        </p:nvSpPr>
        <p:spPr/>
        <p:txBody>
          <a:bodyPr/>
          <a:lstStyle/>
          <a:p>
            <a:fld id="{EFD621FC-EF22-4275-8159-8A4B5FB914E7}" type="slidenum">
              <a:rPr lang="en-IN" smtClean="0"/>
              <a:t>‹#›</a:t>
            </a:fld>
            <a:endParaRPr lang="en-IN"/>
          </a:p>
        </p:txBody>
      </p:sp>
    </p:spTree>
    <p:extLst>
      <p:ext uri="{BB962C8B-B14F-4D97-AF65-F5344CB8AC3E}">
        <p14:creationId xmlns:p14="http://schemas.microsoft.com/office/powerpoint/2010/main" val="358087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4D007-597B-7C48-45A7-25241DF79A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41C36C-AE9D-A58A-1DCA-1484D9496F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60A0FF-9F21-3C5C-2042-4F23EBAD28D6}"/>
              </a:ext>
            </a:extLst>
          </p:cNvPr>
          <p:cNvSpPr>
            <a:spLocks noGrp="1"/>
          </p:cNvSpPr>
          <p:nvPr>
            <p:ph type="dt" sz="half" idx="10"/>
          </p:nvPr>
        </p:nvSpPr>
        <p:spPr/>
        <p:txBody>
          <a:bodyPr/>
          <a:lstStyle/>
          <a:p>
            <a:fld id="{AAF85F6C-BAC1-44EB-ADB5-6E7A657C65A8}" type="datetimeFigureOut">
              <a:rPr lang="en-IN" smtClean="0"/>
              <a:t>05-10-2025</a:t>
            </a:fld>
            <a:endParaRPr lang="en-IN"/>
          </a:p>
        </p:txBody>
      </p:sp>
      <p:sp>
        <p:nvSpPr>
          <p:cNvPr id="5" name="Footer Placeholder 4">
            <a:extLst>
              <a:ext uri="{FF2B5EF4-FFF2-40B4-BE49-F238E27FC236}">
                <a16:creationId xmlns:a16="http://schemas.microsoft.com/office/drawing/2014/main" id="{6A21F679-FD41-0656-1E57-75B26E5EE2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978238-3762-B0E4-A709-1D4B620465F2}"/>
              </a:ext>
            </a:extLst>
          </p:cNvPr>
          <p:cNvSpPr>
            <a:spLocks noGrp="1"/>
          </p:cNvSpPr>
          <p:nvPr>
            <p:ph type="sldNum" sz="quarter" idx="12"/>
          </p:nvPr>
        </p:nvSpPr>
        <p:spPr/>
        <p:txBody>
          <a:bodyPr/>
          <a:lstStyle/>
          <a:p>
            <a:fld id="{EFD621FC-EF22-4275-8159-8A4B5FB914E7}" type="slidenum">
              <a:rPr lang="en-IN" smtClean="0"/>
              <a:t>‹#›</a:t>
            </a:fld>
            <a:endParaRPr lang="en-IN"/>
          </a:p>
        </p:txBody>
      </p:sp>
    </p:spTree>
    <p:extLst>
      <p:ext uri="{BB962C8B-B14F-4D97-AF65-F5344CB8AC3E}">
        <p14:creationId xmlns:p14="http://schemas.microsoft.com/office/powerpoint/2010/main" val="3216207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680A6-35AB-339B-43B8-B12126C01B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950D01C-62CC-43BB-C3A9-F2BCEBAF6B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2D8CE6-4BD8-DB4B-4514-698E1F68C5DF}"/>
              </a:ext>
            </a:extLst>
          </p:cNvPr>
          <p:cNvSpPr>
            <a:spLocks noGrp="1"/>
          </p:cNvSpPr>
          <p:nvPr>
            <p:ph type="dt" sz="half" idx="10"/>
          </p:nvPr>
        </p:nvSpPr>
        <p:spPr/>
        <p:txBody>
          <a:bodyPr/>
          <a:lstStyle/>
          <a:p>
            <a:fld id="{AAF85F6C-BAC1-44EB-ADB5-6E7A657C65A8}" type="datetimeFigureOut">
              <a:rPr lang="en-IN" smtClean="0"/>
              <a:t>05-10-2025</a:t>
            </a:fld>
            <a:endParaRPr lang="en-IN"/>
          </a:p>
        </p:txBody>
      </p:sp>
      <p:sp>
        <p:nvSpPr>
          <p:cNvPr id="5" name="Footer Placeholder 4">
            <a:extLst>
              <a:ext uri="{FF2B5EF4-FFF2-40B4-BE49-F238E27FC236}">
                <a16:creationId xmlns:a16="http://schemas.microsoft.com/office/drawing/2014/main" id="{29913138-1348-9401-2875-FF4D91B695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BED8F7-5472-3440-CFD1-52D35244AF55}"/>
              </a:ext>
            </a:extLst>
          </p:cNvPr>
          <p:cNvSpPr>
            <a:spLocks noGrp="1"/>
          </p:cNvSpPr>
          <p:nvPr>
            <p:ph type="sldNum" sz="quarter" idx="12"/>
          </p:nvPr>
        </p:nvSpPr>
        <p:spPr/>
        <p:txBody>
          <a:bodyPr/>
          <a:lstStyle/>
          <a:p>
            <a:fld id="{EFD621FC-EF22-4275-8159-8A4B5FB914E7}" type="slidenum">
              <a:rPr lang="en-IN" smtClean="0"/>
              <a:t>‹#›</a:t>
            </a:fld>
            <a:endParaRPr lang="en-IN"/>
          </a:p>
        </p:txBody>
      </p:sp>
    </p:spTree>
    <p:extLst>
      <p:ext uri="{BB962C8B-B14F-4D97-AF65-F5344CB8AC3E}">
        <p14:creationId xmlns:p14="http://schemas.microsoft.com/office/powerpoint/2010/main" val="2392542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D7C73-5F77-3696-E6E6-EE59CD222B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161542-CEBF-6879-3BA2-88A6539E69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811515E-E9DA-5705-B41B-3E8FF87C0F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AA430A6-AB18-119F-C981-33473736D10C}"/>
              </a:ext>
            </a:extLst>
          </p:cNvPr>
          <p:cNvSpPr>
            <a:spLocks noGrp="1"/>
          </p:cNvSpPr>
          <p:nvPr>
            <p:ph type="dt" sz="half" idx="10"/>
          </p:nvPr>
        </p:nvSpPr>
        <p:spPr/>
        <p:txBody>
          <a:bodyPr/>
          <a:lstStyle/>
          <a:p>
            <a:fld id="{AAF85F6C-BAC1-44EB-ADB5-6E7A657C65A8}" type="datetimeFigureOut">
              <a:rPr lang="en-IN" smtClean="0"/>
              <a:t>05-10-2025</a:t>
            </a:fld>
            <a:endParaRPr lang="en-IN"/>
          </a:p>
        </p:txBody>
      </p:sp>
      <p:sp>
        <p:nvSpPr>
          <p:cNvPr id="6" name="Footer Placeholder 5">
            <a:extLst>
              <a:ext uri="{FF2B5EF4-FFF2-40B4-BE49-F238E27FC236}">
                <a16:creationId xmlns:a16="http://schemas.microsoft.com/office/drawing/2014/main" id="{17D3F226-5C0B-3FB7-C970-83A520C7B6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5965F7-BD26-A763-44BB-F8AB8662CDE6}"/>
              </a:ext>
            </a:extLst>
          </p:cNvPr>
          <p:cNvSpPr>
            <a:spLocks noGrp="1"/>
          </p:cNvSpPr>
          <p:nvPr>
            <p:ph type="sldNum" sz="quarter" idx="12"/>
          </p:nvPr>
        </p:nvSpPr>
        <p:spPr/>
        <p:txBody>
          <a:bodyPr/>
          <a:lstStyle/>
          <a:p>
            <a:fld id="{EFD621FC-EF22-4275-8159-8A4B5FB914E7}" type="slidenum">
              <a:rPr lang="en-IN" smtClean="0"/>
              <a:t>‹#›</a:t>
            </a:fld>
            <a:endParaRPr lang="en-IN"/>
          </a:p>
        </p:txBody>
      </p:sp>
    </p:spTree>
    <p:extLst>
      <p:ext uri="{BB962C8B-B14F-4D97-AF65-F5344CB8AC3E}">
        <p14:creationId xmlns:p14="http://schemas.microsoft.com/office/powerpoint/2010/main" val="746062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8B6D1-F460-24AF-3E40-2616CC21E63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4047423-E480-E8AE-CE4B-26A27E22B3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2BB8F7-823B-E1B8-5D12-3E701CCCCD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EA92083-27CD-36DF-77BF-15172767C0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6BBDF-2C77-8CD1-0D09-8323B8D977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273B60F-759F-38EF-AF0E-C9BE1786DEBB}"/>
              </a:ext>
            </a:extLst>
          </p:cNvPr>
          <p:cNvSpPr>
            <a:spLocks noGrp="1"/>
          </p:cNvSpPr>
          <p:nvPr>
            <p:ph type="dt" sz="half" idx="10"/>
          </p:nvPr>
        </p:nvSpPr>
        <p:spPr/>
        <p:txBody>
          <a:bodyPr/>
          <a:lstStyle/>
          <a:p>
            <a:fld id="{AAF85F6C-BAC1-44EB-ADB5-6E7A657C65A8}" type="datetimeFigureOut">
              <a:rPr lang="en-IN" smtClean="0"/>
              <a:t>05-10-2025</a:t>
            </a:fld>
            <a:endParaRPr lang="en-IN"/>
          </a:p>
        </p:txBody>
      </p:sp>
      <p:sp>
        <p:nvSpPr>
          <p:cNvPr id="8" name="Footer Placeholder 7">
            <a:extLst>
              <a:ext uri="{FF2B5EF4-FFF2-40B4-BE49-F238E27FC236}">
                <a16:creationId xmlns:a16="http://schemas.microsoft.com/office/drawing/2014/main" id="{CE53131F-5FE1-7C49-B758-D85CD7ECDD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7D6665C-0C0A-2A68-DD3D-A8DAFCDF3636}"/>
              </a:ext>
            </a:extLst>
          </p:cNvPr>
          <p:cNvSpPr>
            <a:spLocks noGrp="1"/>
          </p:cNvSpPr>
          <p:nvPr>
            <p:ph type="sldNum" sz="quarter" idx="12"/>
          </p:nvPr>
        </p:nvSpPr>
        <p:spPr/>
        <p:txBody>
          <a:bodyPr/>
          <a:lstStyle/>
          <a:p>
            <a:fld id="{EFD621FC-EF22-4275-8159-8A4B5FB914E7}" type="slidenum">
              <a:rPr lang="en-IN" smtClean="0"/>
              <a:t>‹#›</a:t>
            </a:fld>
            <a:endParaRPr lang="en-IN"/>
          </a:p>
        </p:txBody>
      </p:sp>
    </p:spTree>
    <p:extLst>
      <p:ext uri="{BB962C8B-B14F-4D97-AF65-F5344CB8AC3E}">
        <p14:creationId xmlns:p14="http://schemas.microsoft.com/office/powerpoint/2010/main" val="3203518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8F0E0-FBE3-77DD-3AB1-A863336B12A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774AAC7-4236-F133-8F34-5E8C6E3D9ED7}"/>
              </a:ext>
            </a:extLst>
          </p:cNvPr>
          <p:cNvSpPr>
            <a:spLocks noGrp="1"/>
          </p:cNvSpPr>
          <p:nvPr>
            <p:ph type="dt" sz="half" idx="10"/>
          </p:nvPr>
        </p:nvSpPr>
        <p:spPr/>
        <p:txBody>
          <a:bodyPr/>
          <a:lstStyle/>
          <a:p>
            <a:fld id="{AAF85F6C-BAC1-44EB-ADB5-6E7A657C65A8}" type="datetimeFigureOut">
              <a:rPr lang="en-IN" smtClean="0"/>
              <a:t>05-10-2025</a:t>
            </a:fld>
            <a:endParaRPr lang="en-IN"/>
          </a:p>
        </p:txBody>
      </p:sp>
      <p:sp>
        <p:nvSpPr>
          <p:cNvPr id="4" name="Footer Placeholder 3">
            <a:extLst>
              <a:ext uri="{FF2B5EF4-FFF2-40B4-BE49-F238E27FC236}">
                <a16:creationId xmlns:a16="http://schemas.microsoft.com/office/drawing/2014/main" id="{B96D69C8-FC50-2B9D-294B-28198AC9F6D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44618F1-F746-9C07-C314-F3D9BBC41B0E}"/>
              </a:ext>
            </a:extLst>
          </p:cNvPr>
          <p:cNvSpPr>
            <a:spLocks noGrp="1"/>
          </p:cNvSpPr>
          <p:nvPr>
            <p:ph type="sldNum" sz="quarter" idx="12"/>
          </p:nvPr>
        </p:nvSpPr>
        <p:spPr/>
        <p:txBody>
          <a:bodyPr/>
          <a:lstStyle/>
          <a:p>
            <a:fld id="{EFD621FC-EF22-4275-8159-8A4B5FB914E7}" type="slidenum">
              <a:rPr lang="en-IN" smtClean="0"/>
              <a:t>‹#›</a:t>
            </a:fld>
            <a:endParaRPr lang="en-IN"/>
          </a:p>
        </p:txBody>
      </p:sp>
    </p:spTree>
    <p:extLst>
      <p:ext uri="{BB962C8B-B14F-4D97-AF65-F5344CB8AC3E}">
        <p14:creationId xmlns:p14="http://schemas.microsoft.com/office/powerpoint/2010/main" val="4033817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AA84E1-5DCD-6013-4F77-569D57F9A88F}"/>
              </a:ext>
            </a:extLst>
          </p:cNvPr>
          <p:cNvSpPr>
            <a:spLocks noGrp="1"/>
          </p:cNvSpPr>
          <p:nvPr>
            <p:ph type="dt" sz="half" idx="10"/>
          </p:nvPr>
        </p:nvSpPr>
        <p:spPr/>
        <p:txBody>
          <a:bodyPr/>
          <a:lstStyle/>
          <a:p>
            <a:fld id="{AAF85F6C-BAC1-44EB-ADB5-6E7A657C65A8}" type="datetimeFigureOut">
              <a:rPr lang="en-IN" smtClean="0"/>
              <a:t>05-10-2025</a:t>
            </a:fld>
            <a:endParaRPr lang="en-IN"/>
          </a:p>
        </p:txBody>
      </p:sp>
      <p:sp>
        <p:nvSpPr>
          <p:cNvPr id="3" name="Footer Placeholder 2">
            <a:extLst>
              <a:ext uri="{FF2B5EF4-FFF2-40B4-BE49-F238E27FC236}">
                <a16:creationId xmlns:a16="http://schemas.microsoft.com/office/drawing/2014/main" id="{8FF1B02A-8E03-A347-1270-62AA818F00C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E4230E7-E8B5-BCE3-50BF-9C439B30FD9B}"/>
              </a:ext>
            </a:extLst>
          </p:cNvPr>
          <p:cNvSpPr>
            <a:spLocks noGrp="1"/>
          </p:cNvSpPr>
          <p:nvPr>
            <p:ph type="sldNum" sz="quarter" idx="12"/>
          </p:nvPr>
        </p:nvSpPr>
        <p:spPr/>
        <p:txBody>
          <a:bodyPr/>
          <a:lstStyle/>
          <a:p>
            <a:fld id="{EFD621FC-EF22-4275-8159-8A4B5FB914E7}" type="slidenum">
              <a:rPr lang="en-IN" smtClean="0"/>
              <a:t>‹#›</a:t>
            </a:fld>
            <a:endParaRPr lang="en-IN"/>
          </a:p>
        </p:txBody>
      </p:sp>
    </p:spTree>
    <p:extLst>
      <p:ext uri="{BB962C8B-B14F-4D97-AF65-F5344CB8AC3E}">
        <p14:creationId xmlns:p14="http://schemas.microsoft.com/office/powerpoint/2010/main" val="2466591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D2A03-2E2F-D423-FA18-6BCA6C83EF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726F6C2-465C-67DA-7F0A-264FA575BD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6E1CF2A-A288-2894-88EA-986AD60A09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50D499-DC77-FF67-C446-5F584DA7736E}"/>
              </a:ext>
            </a:extLst>
          </p:cNvPr>
          <p:cNvSpPr>
            <a:spLocks noGrp="1"/>
          </p:cNvSpPr>
          <p:nvPr>
            <p:ph type="dt" sz="half" idx="10"/>
          </p:nvPr>
        </p:nvSpPr>
        <p:spPr/>
        <p:txBody>
          <a:bodyPr/>
          <a:lstStyle/>
          <a:p>
            <a:fld id="{AAF85F6C-BAC1-44EB-ADB5-6E7A657C65A8}" type="datetimeFigureOut">
              <a:rPr lang="en-IN" smtClean="0"/>
              <a:t>05-10-2025</a:t>
            </a:fld>
            <a:endParaRPr lang="en-IN"/>
          </a:p>
        </p:txBody>
      </p:sp>
      <p:sp>
        <p:nvSpPr>
          <p:cNvPr id="6" name="Footer Placeholder 5">
            <a:extLst>
              <a:ext uri="{FF2B5EF4-FFF2-40B4-BE49-F238E27FC236}">
                <a16:creationId xmlns:a16="http://schemas.microsoft.com/office/drawing/2014/main" id="{150C6060-04B3-646F-7872-199A2A9D7D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614C21-6014-9640-A2D5-01EC1B5ED31D}"/>
              </a:ext>
            </a:extLst>
          </p:cNvPr>
          <p:cNvSpPr>
            <a:spLocks noGrp="1"/>
          </p:cNvSpPr>
          <p:nvPr>
            <p:ph type="sldNum" sz="quarter" idx="12"/>
          </p:nvPr>
        </p:nvSpPr>
        <p:spPr/>
        <p:txBody>
          <a:bodyPr/>
          <a:lstStyle/>
          <a:p>
            <a:fld id="{EFD621FC-EF22-4275-8159-8A4B5FB914E7}" type="slidenum">
              <a:rPr lang="en-IN" smtClean="0"/>
              <a:t>‹#›</a:t>
            </a:fld>
            <a:endParaRPr lang="en-IN"/>
          </a:p>
        </p:txBody>
      </p:sp>
    </p:spTree>
    <p:extLst>
      <p:ext uri="{BB962C8B-B14F-4D97-AF65-F5344CB8AC3E}">
        <p14:creationId xmlns:p14="http://schemas.microsoft.com/office/powerpoint/2010/main" val="4028528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5EE58-2C62-92E7-A625-AF63BD0AEB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40291F1-C272-B1E8-4684-A7A372B380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30BC3F5-A6A5-300A-16FF-DEF6D40406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0E3D49-0E94-16A2-2BAA-C12863148F37}"/>
              </a:ext>
            </a:extLst>
          </p:cNvPr>
          <p:cNvSpPr>
            <a:spLocks noGrp="1"/>
          </p:cNvSpPr>
          <p:nvPr>
            <p:ph type="dt" sz="half" idx="10"/>
          </p:nvPr>
        </p:nvSpPr>
        <p:spPr/>
        <p:txBody>
          <a:bodyPr/>
          <a:lstStyle/>
          <a:p>
            <a:fld id="{AAF85F6C-BAC1-44EB-ADB5-6E7A657C65A8}" type="datetimeFigureOut">
              <a:rPr lang="en-IN" smtClean="0"/>
              <a:t>05-10-2025</a:t>
            </a:fld>
            <a:endParaRPr lang="en-IN"/>
          </a:p>
        </p:txBody>
      </p:sp>
      <p:sp>
        <p:nvSpPr>
          <p:cNvPr id="6" name="Footer Placeholder 5">
            <a:extLst>
              <a:ext uri="{FF2B5EF4-FFF2-40B4-BE49-F238E27FC236}">
                <a16:creationId xmlns:a16="http://schemas.microsoft.com/office/drawing/2014/main" id="{5FC833DA-E4CB-277C-6906-31F560D675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626B9C-BB16-865A-59EA-E11AF8E182A2}"/>
              </a:ext>
            </a:extLst>
          </p:cNvPr>
          <p:cNvSpPr>
            <a:spLocks noGrp="1"/>
          </p:cNvSpPr>
          <p:nvPr>
            <p:ph type="sldNum" sz="quarter" idx="12"/>
          </p:nvPr>
        </p:nvSpPr>
        <p:spPr/>
        <p:txBody>
          <a:bodyPr/>
          <a:lstStyle/>
          <a:p>
            <a:fld id="{EFD621FC-EF22-4275-8159-8A4B5FB914E7}" type="slidenum">
              <a:rPr lang="en-IN" smtClean="0"/>
              <a:t>‹#›</a:t>
            </a:fld>
            <a:endParaRPr lang="en-IN"/>
          </a:p>
        </p:txBody>
      </p:sp>
    </p:spTree>
    <p:extLst>
      <p:ext uri="{BB962C8B-B14F-4D97-AF65-F5344CB8AC3E}">
        <p14:creationId xmlns:p14="http://schemas.microsoft.com/office/powerpoint/2010/main" val="1093542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DC9DD-073E-3F3F-DF07-2B74F635546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735736-3254-3557-7AF7-B48203FA8F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7978DB-D714-2191-0750-988775416B3F}"/>
              </a:ext>
            </a:extLst>
          </p:cNvPr>
          <p:cNvSpPr>
            <a:spLocks noGrp="1"/>
          </p:cNvSpPr>
          <p:nvPr>
            <p:ph type="dt" sz="half" idx="10"/>
          </p:nvPr>
        </p:nvSpPr>
        <p:spPr/>
        <p:txBody>
          <a:bodyPr/>
          <a:lstStyle/>
          <a:p>
            <a:fld id="{AAF85F6C-BAC1-44EB-ADB5-6E7A657C65A8}" type="datetimeFigureOut">
              <a:rPr lang="en-IN" smtClean="0"/>
              <a:t>05-10-2025</a:t>
            </a:fld>
            <a:endParaRPr lang="en-IN"/>
          </a:p>
        </p:txBody>
      </p:sp>
      <p:sp>
        <p:nvSpPr>
          <p:cNvPr id="5" name="Footer Placeholder 4">
            <a:extLst>
              <a:ext uri="{FF2B5EF4-FFF2-40B4-BE49-F238E27FC236}">
                <a16:creationId xmlns:a16="http://schemas.microsoft.com/office/drawing/2014/main" id="{8116C171-5B3C-D2C1-D485-6E8606C5A9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BE825B-6C73-D442-ED05-FBBF9A966452}"/>
              </a:ext>
            </a:extLst>
          </p:cNvPr>
          <p:cNvSpPr>
            <a:spLocks noGrp="1"/>
          </p:cNvSpPr>
          <p:nvPr>
            <p:ph type="sldNum" sz="quarter" idx="12"/>
          </p:nvPr>
        </p:nvSpPr>
        <p:spPr/>
        <p:txBody>
          <a:bodyPr/>
          <a:lstStyle/>
          <a:p>
            <a:fld id="{EFD621FC-EF22-4275-8159-8A4B5FB914E7}" type="slidenum">
              <a:rPr lang="en-IN" smtClean="0"/>
              <a:t>‹#›</a:t>
            </a:fld>
            <a:endParaRPr lang="en-IN"/>
          </a:p>
        </p:txBody>
      </p:sp>
    </p:spTree>
    <p:extLst>
      <p:ext uri="{BB962C8B-B14F-4D97-AF65-F5344CB8AC3E}">
        <p14:creationId xmlns:p14="http://schemas.microsoft.com/office/powerpoint/2010/main" val="338110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6A0C27-4E63-EA2A-055D-525A855D7AE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2FCEF5-270B-8A88-341A-F62FBC91DB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77A457-1D76-A177-B8BC-AD1BF1535E1A}"/>
              </a:ext>
            </a:extLst>
          </p:cNvPr>
          <p:cNvSpPr>
            <a:spLocks noGrp="1"/>
          </p:cNvSpPr>
          <p:nvPr>
            <p:ph type="dt" sz="half" idx="10"/>
          </p:nvPr>
        </p:nvSpPr>
        <p:spPr/>
        <p:txBody>
          <a:bodyPr/>
          <a:lstStyle/>
          <a:p>
            <a:fld id="{AAF85F6C-BAC1-44EB-ADB5-6E7A657C65A8}" type="datetimeFigureOut">
              <a:rPr lang="en-IN" smtClean="0"/>
              <a:t>05-10-2025</a:t>
            </a:fld>
            <a:endParaRPr lang="en-IN"/>
          </a:p>
        </p:txBody>
      </p:sp>
      <p:sp>
        <p:nvSpPr>
          <p:cNvPr id="5" name="Footer Placeholder 4">
            <a:extLst>
              <a:ext uri="{FF2B5EF4-FFF2-40B4-BE49-F238E27FC236}">
                <a16:creationId xmlns:a16="http://schemas.microsoft.com/office/drawing/2014/main" id="{12C80638-D423-B034-9F99-0DD21713F9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DC5BD9-DE18-F91D-38E6-C98002DC38CB}"/>
              </a:ext>
            </a:extLst>
          </p:cNvPr>
          <p:cNvSpPr>
            <a:spLocks noGrp="1"/>
          </p:cNvSpPr>
          <p:nvPr>
            <p:ph type="sldNum" sz="quarter" idx="12"/>
          </p:nvPr>
        </p:nvSpPr>
        <p:spPr/>
        <p:txBody>
          <a:bodyPr/>
          <a:lstStyle/>
          <a:p>
            <a:fld id="{EFD621FC-EF22-4275-8159-8A4B5FB914E7}" type="slidenum">
              <a:rPr lang="en-IN" smtClean="0"/>
              <a:t>‹#›</a:t>
            </a:fld>
            <a:endParaRPr lang="en-IN"/>
          </a:p>
        </p:txBody>
      </p:sp>
    </p:spTree>
    <p:extLst>
      <p:ext uri="{BB962C8B-B14F-4D97-AF65-F5344CB8AC3E}">
        <p14:creationId xmlns:p14="http://schemas.microsoft.com/office/powerpoint/2010/main" val="992407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D64E34-FA6F-3C0D-6E84-5C5E64F299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96D12F-662A-954D-4D7A-9FDE46AD0E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301C48-5686-86B1-6506-D4AC270DA4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F85F6C-BAC1-44EB-ADB5-6E7A657C65A8}" type="datetimeFigureOut">
              <a:rPr lang="en-IN" smtClean="0"/>
              <a:t>05-10-2025</a:t>
            </a:fld>
            <a:endParaRPr lang="en-IN"/>
          </a:p>
        </p:txBody>
      </p:sp>
      <p:sp>
        <p:nvSpPr>
          <p:cNvPr id="5" name="Footer Placeholder 4">
            <a:extLst>
              <a:ext uri="{FF2B5EF4-FFF2-40B4-BE49-F238E27FC236}">
                <a16:creationId xmlns:a16="http://schemas.microsoft.com/office/drawing/2014/main" id="{B383B9C3-9BB7-9227-D11C-EA69B703F9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451D48B-A344-3791-A703-2E1A8C4AD4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FD621FC-EF22-4275-8159-8A4B5FB914E7}" type="slidenum">
              <a:rPr lang="en-IN" smtClean="0"/>
              <a:t>‹#›</a:t>
            </a:fld>
            <a:endParaRPr lang="en-IN"/>
          </a:p>
        </p:txBody>
      </p:sp>
    </p:spTree>
    <p:extLst>
      <p:ext uri="{BB962C8B-B14F-4D97-AF65-F5344CB8AC3E}">
        <p14:creationId xmlns:p14="http://schemas.microsoft.com/office/powerpoint/2010/main" val="1225164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469AC-FEB6-DACC-8DE0-ACD171CC3ACE}"/>
              </a:ext>
            </a:extLst>
          </p:cNvPr>
          <p:cNvSpPr>
            <a:spLocks noGrp="1"/>
          </p:cNvSpPr>
          <p:nvPr>
            <p:ph type="ctrTitle"/>
          </p:nvPr>
        </p:nvSpPr>
        <p:spPr/>
        <p:txBody>
          <a:bodyPr/>
          <a:lstStyle/>
          <a:p>
            <a:r>
              <a:rPr lang="en-US" dirty="0"/>
              <a:t>Reproduce Research Result</a:t>
            </a:r>
            <a:endParaRPr lang="en-IN" dirty="0"/>
          </a:p>
        </p:txBody>
      </p:sp>
      <p:sp>
        <p:nvSpPr>
          <p:cNvPr id="3" name="Subtitle 2">
            <a:extLst>
              <a:ext uri="{FF2B5EF4-FFF2-40B4-BE49-F238E27FC236}">
                <a16:creationId xmlns:a16="http://schemas.microsoft.com/office/drawing/2014/main" id="{C13EFEE8-40CF-2C9B-66DF-DFD331264F78}"/>
              </a:ext>
            </a:extLst>
          </p:cNvPr>
          <p:cNvSpPr>
            <a:spLocks noGrp="1"/>
          </p:cNvSpPr>
          <p:nvPr>
            <p:ph type="subTitle" idx="1"/>
          </p:nvPr>
        </p:nvSpPr>
        <p:spPr>
          <a:xfrm>
            <a:off x="3200400" y="3509963"/>
            <a:ext cx="5791200" cy="1655762"/>
          </a:xfrm>
        </p:spPr>
        <p:txBody>
          <a:bodyPr/>
          <a:lstStyle/>
          <a:p>
            <a:r>
              <a:rPr lang="en-US" dirty="0"/>
              <a:t>Divyashree, Doddbele Aswatha Narayana</a:t>
            </a:r>
          </a:p>
          <a:p>
            <a:r>
              <a:rPr lang="en-US" sz="2000" dirty="0" err="1"/>
              <a:t>Mtknr</a:t>
            </a:r>
            <a:r>
              <a:rPr lang="en-US" sz="2000" dirty="0"/>
              <a:t> : 23660613</a:t>
            </a:r>
          </a:p>
          <a:p>
            <a:r>
              <a:rPr lang="en-US" dirty="0"/>
              <a:t> </a:t>
            </a:r>
            <a:endParaRPr lang="en-IN" dirty="0"/>
          </a:p>
        </p:txBody>
      </p:sp>
    </p:spTree>
    <p:extLst>
      <p:ext uri="{BB962C8B-B14F-4D97-AF65-F5344CB8AC3E}">
        <p14:creationId xmlns:p14="http://schemas.microsoft.com/office/powerpoint/2010/main" val="1571995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4289C-C689-68D2-A6EC-5A3695745017}"/>
              </a:ext>
            </a:extLst>
          </p:cNvPr>
          <p:cNvSpPr>
            <a:spLocks noGrp="1"/>
          </p:cNvSpPr>
          <p:nvPr>
            <p:ph type="title"/>
          </p:nvPr>
        </p:nvSpPr>
        <p:spPr>
          <a:xfrm>
            <a:off x="974834" y="2766218"/>
            <a:ext cx="10515600" cy="1325563"/>
          </a:xfrm>
        </p:spPr>
        <p:txBody>
          <a:bodyPr>
            <a:normAutofit/>
          </a:bodyPr>
          <a:lstStyle/>
          <a:p>
            <a:pPr algn="ctr"/>
            <a:r>
              <a:rPr lang="en-IN" dirty="0"/>
              <a:t>A Hierarchical Probabilistic U-Net for </a:t>
            </a:r>
            <a:r>
              <a:rPr lang="en-IN" dirty="0" err="1"/>
              <a:t>Modeling</a:t>
            </a:r>
            <a:r>
              <a:rPr lang="en-IN" dirty="0"/>
              <a:t> Multi-Scale Ambiguities</a:t>
            </a:r>
          </a:p>
        </p:txBody>
      </p:sp>
    </p:spTree>
    <p:extLst>
      <p:ext uri="{BB962C8B-B14F-4D97-AF65-F5344CB8AC3E}">
        <p14:creationId xmlns:p14="http://schemas.microsoft.com/office/powerpoint/2010/main" val="3123781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ADB9C-BF8E-CBC7-E737-3A089D60374B}"/>
              </a:ext>
            </a:extLst>
          </p:cNvPr>
          <p:cNvSpPr>
            <a:spLocks noGrp="1"/>
          </p:cNvSpPr>
          <p:nvPr>
            <p:ph type="title"/>
          </p:nvPr>
        </p:nvSpPr>
        <p:spPr/>
        <p:txBody>
          <a:bodyPr/>
          <a:lstStyle/>
          <a:p>
            <a:r>
              <a:rPr lang="en-US" dirty="0"/>
              <a:t>Overview</a:t>
            </a:r>
            <a:endParaRPr lang="en-IN" dirty="0"/>
          </a:p>
        </p:txBody>
      </p:sp>
      <p:sp>
        <p:nvSpPr>
          <p:cNvPr id="3" name="Content Placeholder 2">
            <a:extLst>
              <a:ext uri="{FF2B5EF4-FFF2-40B4-BE49-F238E27FC236}">
                <a16:creationId xmlns:a16="http://schemas.microsoft.com/office/drawing/2014/main" id="{50088EE0-79B2-A39B-4891-C29BDEF4180F}"/>
              </a:ext>
            </a:extLst>
          </p:cNvPr>
          <p:cNvSpPr>
            <a:spLocks noGrp="1"/>
          </p:cNvSpPr>
          <p:nvPr>
            <p:ph idx="1"/>
          </p:nvPr>
        </p:nvSpPr>
        <p:spPr/>
        <p:txBody>
          <a:bodyPr/>
          <a:lstStyle/>
          <a:p>
            <a:r>
              <a:rPr lang="en-US" dirty="0"/>
              <a:t>Motivation</a:t>
            </a:r>
          </a:p>
          <a:p>
            <a:r>
              <a:rPr lang="en-US" dirty="0" err="1"/>
              <a:t>sPU</a:t>
            </a:r>
            <a:r>
              <a:rPr lang="en-US" dirty="0"/>
              <a:t>-Net</a:t>
            </a:r>
          </a:p>
          <a:p>
            <a:r>
              <a:rPr lang="en-US" dirty="0"/>
              <a:t>Limitations</a:t>
            </a:r>
          </a:p>
          <a:p>
            <a:r>
              <a:rPr lang="en-US" dirty="0"/>
              <a:t>HPU-Net</a:t>
            </a:r>
          </a:p>
          <a:p>
            <a:r>
              <a:rPr lang="en-US" dirty="0"/>
              <a:t>Training</a:t>
            </a:r>
          </a:p>
          <a:p>
            <a:r>
              <a:rPr lang="en-US" dirty="0"/>
              <a:t>Results</a:t>
            </a:r>
          </a:p>
          <a:p>
            <a:endParaRPr lang="en-US" dirty="0"/>
          </a:p>
          <a:p>
            <a:endParaRPr lang="en-US" dirty="0"/>
          </a:p>
        </p:txBody>
      </p:sp>
    </p:spTree>
    <p:extLst>
      <p:ext uri="{BB962C8B-B14F-4D97-AF65-F5344CB8AC3E}">
        <p14:creationId xmlns:p14="http://schemas.microsoft.com/office/powerpoint/2010/main" val="459896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F9866-77E7-0DAA-91C1-63C762E68A61}"/>
              </a:ext>
            </a:extLst>
          </p:cNvPr>
          <p:cNvSpPr>
            <a:spLocks noGrp="1"/>
          </p:cNvSpPr>
          <p:nvPr>
            <p:ph type="title"/>
          </p:nvPr>
        </p:nvSpPr>
        <p:spPr/>
        <p:txBody>
          <a:bodyPr/>
          <a:lstStyle/>
          <a:p>
            <a:r>
              <a:rPr lang="en-US" dirty="0"/>
              <a:t>Motivation</a:t>
            </a:r>
            <a:endParaRPr lang="en-IN" dirty="0"/>
          </a:p>
        </p:txBody>
      </p:sp>
      <p:pic>
        <p:nvPicPr>
          <p:cNvPr id="5" name="Content Placeholder 4">
            <a:extLst>
              <a:ext uri="{FF2B5EF4-FFF2-40B4-BE49-F238E27FC236}">
                <a16:creationId xmlns:a16="http://schemas.microsoft.com/office/drawing/2014/main" id="{787B0BE1-9BB5-0317-F6F6-9F5E4880284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3726" t="22664" r="43117"/>
          <a:stretch>
            <a:fillRect/>
          </a:stretch>
        </p:blipFill>
        <p:spPr>
          <a:xfrm rot="16200000">
            <a:off x="5769096" y="1702263"/>
            <a:ext cx="2117292" cy="2851108"/>
          </a:xfrm>
        </p:spPr>
      </p:pic>
      <p:pic>
        <p:nvPicPr>
          <p:cNvPr id="7" name="Picture 6">
            <a:extLst>
              <a:ext uri="{FF2B5EF4-FFF2-40B4-BE49-F238E27FC236}">
                <a16:creationId xmlns:a16="http://schemas.microsoft.com/office/drawing/2014/main" id="{5381ABF5-EE0C-C74C-7E71-9C747BBA68BB}"/>
              </a:ext>
            </a:extLst>
          </p:cNvPr>
          <p:cNvPicPr>
            <a:picLocks noChangeAspect="1"/>
          </p:cNvPicPr>
          <p:nvPr/>
        </p:nvPicPr>
        <p:blipFill>
          <a:blip r:embed="rId4">
            <a:extLst>
              <a:ext uri="{28A0092B-C50C-407E-A947-70E740481C1C}">
                <a14:useLocalDpi xmlns:a14="http://schemas.microsoft.com/office/drawing/2010/main" val="0"/>
              </a:ext>
            </a:extLst>
          </a:blip>
          <a:srcRect l="50011" t="23154" r="2115"/>
          <a:stretch>
            <a:fillRect/>
          </a:stretch>
        </p:blipFill>
        <p:spPr>
          <a:xfrm rot="16200000">
            <a:off x="6135360" y="3441438"/>
            <a:ext cx="1416836" cy="2883181"/>
          </a:xfrm>
          <a:prstGeom prst="rect">
            <a:avLst/>
          </a:prstGeom>
        </p:spPr>
      </p:pic>
      <p:sp>
        <p:nvSpPr>
          <p:cNvPr id="12" name="TextBox 11">
            <a:extLst>
              <a:ext uri="{FF2B5EF4-FFF2-40B4-BE49-F238E27FC236}">
                <a16:creationId xmlns:a16="http://schemas.microsoft.com/office/drawing/2014/main" id="{571198E5-C89A-6BD7-CAC1-A6B1797C230A}"/>
              </a:ext>
            </a:extLst>
          </p:cNvPr>
          <p:cNvSpPr txBox="1"/>
          <p:nvPr/>
        </p:nvSpPr>
        <p:spPr>
          <a:xfrm>
            <a:off x="3799563" y="1687986"/>
            <a:ext cx="1078992" cy="369332"/>
          </a:xfrm>
          <a:prstGeom prst="rect">
            <a:avLst/>
          </a:prstGeom>
          <a:noFill/>
        </p:spPr>
        <p:txBody>
          <a:bodyPr wrap="square" rtlCol="0">
            <a:spAutoFit/>
          </a:bodyPr>
          <a:lstStyle/>
          <a:p>
            <a:r>
              <a:rPr lang="en-US" dirty="0"/>
              <a:t>CT Scan</a:t>
            </a:r>
            <a:endParaRPr lang="en-IN" dirty="0"/>
          </a:p>
        </p:txBody>
      </p:sp>
      <p:sp>
        <p:nvSpPr>
          <p:cNvPr id="13" name="TextBox 12">
            <a:extLst>
              <a:ext uri="{FF2B5EF4-FFF2-40B4-BE49-F238E27FC236}">
                <a16:creationId xmlns:a16="http://schemas.microsoft.com/office/drawing/2014/main" id="{9A4F3FAD-7C16-C797-5783-D3C1EED8A993}"/>
              </a:ext>
            </a:extLst>
          </p:cNvPr>
          <p:cNvSpPr txBox="1"/>
          <p:nvPr/>
        </p:nvSpPr>
        <p:spPr>
          <a:xfrm>
            <a:off x="5751576" y="1687986"/>
            <a:ext cx="2301240" cy="369332"/>
          </a:xfrm>
          <a:prstGeom prst="rect">
            <a:avLst/>
          </a:prstGeom>
          <a:noFill/>
        </p:spPr>
        <p:txBody>
          <a:bodyPr wrap="square" rtlCol="0">
            <a:spAutoFit/>
          </a:bodyPr>
          <a:lstStyle/>
          <a:p>
            <a:pPr algn="ctr"/>
            <a:r>
              <a:rPr lang="en-US" dirty="0"/>
              <a:t>4 expert graders</a:t>
            </a:r>
            <a:endParaRPr lang="en-IN" dirty="0"/>
          </a:p>
        </p:txBody>
      </p:sp>
      <p:pic>
        <p:nvPicPr>
          <p:cNvPr id="3" name="Content Placeholder 4">
            <a:extLst>
              <a:ext uri="{FF2B5EF4-FFF2-40B4-BE49-F238E27FC236}">
                <a16:creationId xmlns:a16="http://schemas.microsoft.com/office/drawing/2014/main" id="{51266A26-B2CB-A119-7FC0-6AB2A6709955}"/>
              </a:ext>
            </a:extLst>
          </p:cNvPr>
          <p:cNvPicPr>
            <a:picLocks noChangeAspect="1"/>
          </p:cNvPicPr>
          <p:nvPr/>
        </p:nvPicPr>
        <p:blipFill>
          <a:blip r:embed="rId3">
            <a:extLst>
              <a:ext uri="{28A0092B-C50C-407E-A947-70E740481C1C}">
                <a14:useLocalDpi xmlns:a14="http://schemas.microsoft.com/office/drawing/2010/main" val="0"/>
              </a:ext>
            </a:extLst>
          </a:blip>
          <a:srcRect l="13726" t="3609" r="43117" b="77018"/>
          <a:stretch>
            <a:fillRect/>
          </a:stretch>
        </p:blipFill>
        <p:spPr>
          <a:xfrm rot="16200000">
            <a:off x="3272228" y="2758860"/>
            <a:ext cx="2117292" cy="714209"/>
          </a:xfrm>
          <a:prstGeom prst="rect">
            <a:avLst/>
          </a:prstGeom>
        </p:spPr>
      </p:pic>
      <p:pic>
        <p:nvPicPr>
          <p:cNvPr id="4" name="Picture 3">
            <a:extLst>
              <a:ext uri="{FF2B5EF4-FFF2-40B4-BE49-F238E27FC236}">
                <a16:creationId xmlns:a16="http://schemas.microsoft.com/office/drawing/2014/main" id="{FEB6C995-6887-579F-B5CF-24396B5C2A77}"/>
              </a:ext>
            </a:extLst>
          </p:cNvPr>
          <p:cNvPicPr>
            <a:picLocks noChangeAspect="1"/>
          </p:cNvPicPr>
          <p:nvPr/>
        </p:nvPicPr>
        <p:blipFill>
          <a:blip r:embed="rId4">
            <a:extLst>
              <a:ext uri="{28A0092B-C50C-407E-A947-70E740481C1C}">
                <a14:useLocalDpi xmlns:a14="http://schemas.microsoft.com/office/drawing/2010/main" val="0"/>
              </a:ext>
            </a:extLst>
          </a:blip>
          <a:srcRect l="50006" t="4643" r="2120" b="76748"/>
          <a:stretch>
            <a:fillRect/>
          </a:stretch>
        </p:blipFill>
        <p:spPr>
          <a:xfrm rot="16200000">
            <a:off x="3630476" y="4533942"/>
            <a:ext cx="1416836" cy="698171"/>
          </a:xfrm>
          <a:prstGeom prst="rect">
            <a:avLst/>
          </a:prstGeom>
        </p:spPr>
      </p:pic>
      <p:sp>
        <p:nvSpPr>
          <p:cNvPr id="6" name="TextBox 5">
            <a:extLst>
              <a:ext uri="{FF2B5EF4-FFF2-40B4-BE49-F238E27FC236}">
                <a16:creationId xmlns:a16="http://schemas.microsoft.com/office/drawing/2014/main" id="{028FEF3A-A148-CA74-CCFC-7E3607B91050}"/>
              </a:ext>
            </a:extLst>
          </p:cNvPr>
          <p:cNvSpPr txBox="1"/>
          <p:nvPr/>
        </p:nvSpPr>
        <p:spPr>
          <a:xfrm>
            <a:off x="590550" y="6316991"/>
            <a:ext cx="11287125" cy="276999"/>
          </a:xfrm>
          <a:prstGeom prst="rect">
            <a:avLst/>
          </a:prstGeom>
          <a:noFill/>
        </p:spPr>
        <p:txBody>
          <a:bodyPr wrap="square">
            <a:spAutoFit/>
          </a:bodyPr>
          <a:lstStyle/>
          <a:p>
            <a:r>
              <a:rPr lang="en-IN" sz="1200" b="0" i="0" dirty="0">
                <a:solidFill>
                  <a:srgbClr val="222222"/>
                </a:solidFill>
                <a:effectLst/>
                <a:latin typeface="Arial" panose="020B0604020202020204" pitchFamily="34" charset="0"/>
              </a:rPr>
              <a:t>Source : Kohl, Simon AA, et al. "A hierarchical probabilistic u-net for </a:t>
            </a:r>
            <a:r>
              <a:rPr lang="en-IN" sz="1200" b="0" i="0" dirty="0" err="1">
                <a:solidFill>
                  <a:srgbClr val="222222"/>
                </a:solidFill>
                <a:effectLst/>
                <a:latin typeface="Arial" panose="020B0604020202020204" pitchFamily="34" charset="0"/>
              </a:rPr>
              <a:t>modeling</a:t>
            </a:r>
            <a:r>
              <a:rPr lang="en-IN" sz="1200" b="0" i="0" dirty="0">
                <a:solidFill>
                  <a:srgbClr val="222222"/>
                </a:solidFill>
                <a:effectLst/>
                <a:latin typeface="Arial" panose="020B0604020202020204" pitchFamily="34" charset="0"/>
              </a:rPr>
              <a:t> multi-scale ambiguities." </a:t>
            </a:r>
            <a:r>
              <a:rPr lang="en-IN" sz="1200" b="0" i="1" dirty="0" err="1">
                <a:solidFill>
                  <a:srgbClr val="222222"/>
                </a:solidFill>
                <a:effectLst/>
                <a:latin typeface="Arial" panose="020B0604020202020204" pitchFamily="34" charset="0"/>
              </a:rPr>
              <a:t>arXiv</a:t>
            </a:r>
            <a:r>
              <a:rPr lang="en-IN" sz="1200" b="0" i="1" dirty="0">
                <a:solidFill>
                  <a:srgbClr val="222222"/>
                </a:solidFill>
                <a:effectLst/>
                <a:latin typeface="Arial" panose="020B0604020202020204" pitchFamily="34" charset="0"/>
              </a:rPr>
              <a:t> preprint arXiv:1905.13077</a:t>
            </a:r>
            <a:r>
              <a:rPr lang="en-IN" sz="1200" b="0" i="0" dirty="0">
                <a:solidFill>
                  <a:srgbClr val="222222"/>
                </a:solidFill>
                <a:effectLst/>
                <a:latin typeface="Arial" panose="020B0604020202020204" pitchFamily="34" charset="0"/>
              </a:rPr>
              <a:t> (2019).</a:t>
            </a:r>
            <a:endParaRPr lang="en-IN" sz="1200" dirty="0"/>
          </a:p>
        </p:txBody>
      </p:sp>
    </p:spTree>
    <p:extLst>
      <p:ext uri="{BB962C8B-B14F-4D97-AF65-F5344CB8AC3E}">
        <p14:creationId xmlns:p14="http://schemas.microsoft.com/office/powerpoint/2010/main" val="3073878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5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50"/>
                                        <p:tgtEl>
                                          <p:spTgt spid="3"/>
                                        </p:tgtEl>
                                      </p:cBhvr>
                                    </p:animEffect>
                                  </p:childTnLst>
                                </p:cTn>
                              </p:par>
                              <p:par>
                                <p:cTn id="8" presetID="22" presetClass="entr" presetSubtype="8" fill="hold" nodeType="withEffect">
                                  <p:stCondLst>
                                    <p:cond delay="25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50"/>
                                        <p:tgtEl>
                                          <p:spTgt spid="4"/>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250"/>
                                        <p:tgtEl>
                                          <p:spTgt spid="12"/>
                                        </p:tgtEl>
                                      </p:cBhvr>
                                    </p:animEffect>
                                  </p:childTnLst>
                                </p:cTn>
                              </p:par>
                            </p:childTnLst>
                          </p:cTn>
                        </p:par>
                        <p:par>
                          <p:cTn id="14" fill="hold">
                            <p:stCondLst>
                              <p:cond delay="500"/>
                            </p:stCondLst>
                            <p:childTnLst>
                              <p:par>
                                <p:cTn id="15" presetID="22" presetClass="entr" presetSubtype="8" fill="hold" grpId="0" nodeType="afterEffect">
                                  <p:stCondLst>
                                    <p:cond delay="25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250"/>
                                        <p:tgtEl>
                                          <p:spTgt spid="13"/>
                                        </p:tgtEl>
                                      </p:cBhvr>
                                    </p:animEffect>
                                  </p:childTnLst>
                                </p:cTn>
                              </p:par>
                              <p:par>
                                <p:cTn id="18" presetID="22" presetClass="entr" presetSubtype="8" fill="hold" nodeType="withEffect">
                                  <p:stCondLst>
                                    <p:cond delay="25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250"/>
                                        <p:tgtEl>
                                          <p:spTgt spid="5"/>
                                        </p:tgtEl>
                                      </p:cBhvr>
                                    </p:animEffect>
                                  </p:childTnLst>
                                </p:cTn>
                              </p:par>
                              <p:par>
                                <p:cTn id="21" presetID="22" presetClass="entr" presetSubtype="8" fill="hold" nodeType="withEffect">
                                  <p:stCondLst>
                                    <p:cond delay="25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DDC25-3BAE-DAFD-27C6-89076CE6E062}"/>
              </a:ext>
            </a:extLst>
          </p:cNvPr>
          <p:cNvSpPr>
            <a:spLocks noGrp="1"/>
          </p:cNvSpPr>
          <p:nvPr>
            <p:ph type="title"/>
          </p:nvPr>
        </p:nvSpPr>
        <p:spPr/>
        <p:txBody>
          <a:bodyPr/>
          <a:lstStyle/>
          <a:p>
            <a:r>
              <a:rPr lang="en-US" dirty="0"/>
              <a:t>U-Net</a:t>
            </a:r>
            <a:endParaRPr lang="en-IN" dirty="0"/>
          </a:p>
        </p:txBody>
      </p:sp>
      <p:pic>
        <p:nvPicPr>
          <p:cNvPr id="5" name="Content Placeholder 4">
            <a:extLst>
              <a:ext uri="{FF2B5EF4-FFF2-40B4-BE49-F238E27FC236}">
                <a16:creationId xmlns:a16="http://schemas.microsoft.com/office/drawing/2014/main" id="{A72311C0-AF81-79E5-0BEF-1DAF17074D44}"/>
              </a:ext>
            </a:extLst>
          </p:cNvPr>
          <p:cNvPicPr>
            <a:picLocks noGrp="1" noChangeAspect="1"/>
          </p:cNvPicPr>
          <p:nvPr>
            <p:ph idx="1"/>
          </p:nvPr>
        </p:nvPicPr>
        <p:blipFill>
          <a:blip r:embed="rId3"/>
          <a:srcRect l="16220"/>
          <a:stretch>
            <a:fillRect/>
          </a:stretch>
        </p:blipFill>
        <p:spPr>
          <a:xfrm>
            <a:off x="6358270" y="2655103"/>
            <a:ext cx="1799560" cy="1547794"/>
          </a:xfrm>
          <a:prstGeom prst="rect">
            <a:avLst/>
          </a:prstGeom>
        </p:spPr>
      </p:pic>
      <p:pic>
        <p:nvPicPr>
          <p:cNvPr id="7" name="Picture 6">
            <a:extLst>
              <a:ext uri="{FF2B5EF4-FFF2-40B4-BE49-F238E27FC236}">
                <a16:creationId xmlns:a16="http://schemas.microsoft.com/office/drawing/2014/main" id="{C8A71384-F490-E0B9-7429-2FD64725B0AB}"/>
              </a:ext>
            </a:extLst>
          </p:cNvPr>
          <p:cNvPicPr>
            <a:picLocks noChangeAspect="1"/>
          </p:cNvPicPr>
          <p:nvPr/>
        </p:nvPicPr>
        <p:blipFill>
          <a:blip r:embed="rId4"/>
          <a:srcRect b="20207"/>
          <a:stretch>
            <a:fillRect/>
          </a:stretch>
        </p:blipFill>
        <p:spPr>
          <a:xfrm>
            <a:off x="1365956" y="2426849"/>
            <a:ext cx="1589895" cy="1676387"/>
          </a:xfrm>
          <a:prstGeom prst="rect">
            <a:avLst/>
          </a:prstGeom>
        </p:spPr>
      </p:pic>
      <p:cxnSp>
        <p:nvCxnSpPr>
          <p:cNvPr id="9" name="Straight Arrow Connector 8">
            <a:extLst>
              <a:ext uri="{FF2B5EF4-FFF2-40B4-BE49-F238E27FC236}">
                <a16:creationId xmlns:a16="http://schemas.microsoft.com/office/drawing/2014/main" id="{E13A40ED-4EE5-6F81-FEC8-7D548CD35F68}"/>
              </a:ext>
            </a:extLst>
          </p:cNvPr>
          <p:cNvCxnSpPr>
            <a:cxnSpLocks/>
            <a:endCxn id="5" idx="1"/>
          </p:cNvCxnSpPr>
          <p:nvPr/>
        </p:nvCxnSpPr>
        <p:spPr>
          <a:xfrm>
            <a:off x="2955851" y="3429000"/>
            <a:ext cx="3296093"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27A6DD81-4EC9-3F2D-7111-B91BC848D5F6}"/>
              </a:ext>
            </a:extLst>
          </p:cNvPr>
          <p:cNvCxnSpPr>
            <a:cxnSpLocks/>
          </p:cNvCxnSpPr>
          <p:nvPr/>
        </p:nvCxnSpPr>
        <p:spPr>
          <a:xfrm>
            <a:off x="8176437" y="3428999"/>
            <a:ext cx="973857"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97B74CE4-B818-44A7-D646-1B42093A0B6A}"/>
              </a:ext>
            </a:extLst>
          </p:cNvPr>
          <p:cNvSpPr txBox="1"/>
          <p:nvPr/>
        </p:nvSpPr>
        <p:spPr>
          <a:xfrm>
            <a:off x="1598655" y="4181860"/>
            <a:ext cx="1124495" cy="369332"/>
          </a:xfrm>
          <a:prstGeom prst="rect">
            <a:avLst/>
          </a:prstGeom>
          <a:noFill/>
        </p:spPr>
        <p:txBody>
          <a:bodyPr wrap="square" rtlCol="0">
            <a:spAutoFit/>
          </a:bodyPr>
          <a:lstStyle/>
          <a:p>
            <a:pPr algn="ctr"/>
            <a:r>
              <a:rPr lang="en-US" dirty="0"/>
              <a:t>Image</a:t>
            </a:r>
            <a:endParaRPr lang="en-IN" dirty="0"/>
          </a:p>
        </p:txBody>
      </p:sp>
      <p:sp>
        <p:nvSpPr>
          <p:cNvPr id="17" name="TextBox 16">
            <a:extLst>
              <a:ext uri="{FF2B5EF4-FFF2-40B4-BE49-F238E27FC236}">
                <a16:creationId xmlns:a16="http://schemas.microsoft.com/office/drawing/2014/main" id="{B4476FA6-DADB-2FDD-175B-E9A3ED2076F4}"/>
              </a:ext>
            </a:extLst>
          </p:cNvPr>
          <p:cNvSpPr txBox="1"/>
          <p:nvPr/>
        </p:nvSpPr>
        <p:spPr>
          <a:xfrm>
            <a:off x="9130526" y="4043361"/>
            <a:ext cx="1692335" cy="646331"/>
          </a:xfrm>
          <a:prstGeom prst="rect">
            <a:avLst/>
          </a:prstGeom>
          <a:noFill/>
        </p:spPr>
        <p:txBody>
          <a:bodyPr wrap="square" rtlCol="0">
            <a:spAutoFit/>
          </a:bodyPr>
          <a:lstStyle/>
          <a:p>
            <a:pPr algn="ctr"/>
            <a:r>
              <a:rPr lang="en-US" dirty="0"/>
              <a:t>Predicted Segmentation</a:t>
            </a:r>
            <a:endParaRPr lang="en-IN" dirty="0"/>
          </a:p>
        </p:txBody>
      </p:sp>
      <p:sp>
        <p:nvSpPr>
          <p:cNvPr id="18" name="TextBox 17">
            <a:extLst>
              <a:ext uri="{FF2B5EF4-FFF2-40B4-BE49-F238E27FC236}">
                <a16:creationId xmlns:a16="http://schemas.microsoft.com/office/drawing/2014/main" id="{86665DF4-3714-E82A-A924-A26394C49055}"/>
              </a:ext>
            </a:extLst>
          </p:cNvPr>
          <p:cNvSpPr txBox="1"/>
          <p:nvPr/>
        </p:nvSpPr>
        <p:spPr>
          <a:xfrm>
            <a:off x="6718554" y="4181860"/>
            <a:ext cx="1078992" cy="369332"/>
          </a:xfrm>
          <a:prstGeom prst="rect">
            <a:avLst/>
          </a:prstGeom>
          <a:noFill/>
        </p:spPr>
        <p:txBody>
          <a:bodyPr wrap="square" rtlCol="0">
            <a:spAutoFit/>
          </a:bodyPr>
          <a:lstStyle/>
          <a:p>
            <a:pPr algn="ctr"/>
            <a:r>
              <a:rPr lang="en-US" dirty="0"/>
              <a:t>U-Net</a:t>
            </a:r>
            <a:endParaRPr lang="en-IN" dirty="0"/>
          </a:p>
        </p:txBody>
      </p:sp>
      <p:pic>
        <p:nvPicPr>
          <p:cNvPr id="19" name="Picture 18" descr="A collage of white spots">
            <a:extLst>
              <a:ext uri="{FF2B5EF4-FFF2-40B4-BE49-F238E27FC236}">
                <a16:creationId xmlns:a16="http://schemas.microsoft.com/office/drawing/2014/main" id="{560C2C8D-9231-722C-AC5B-1FD9FF2291CF}"/>
              </a:ext>
            </a:extLst>
          </p:cNvPr>
          <p:cNvPicPr>
            <a:picLocks noChangeAspect="1"/>
          </p:cNvPicPr>
          <p:nvPr/>
        </p:nvPicPr>
        <p:blipFill>
          <a:blip r:embed="rId5">
            <a:extLst>
              <a:ext uri="{28A0092B-C50C-407E-A947-70E740481C1C}">
                <a14:useLocalDpi xmlns:a14="http://schemas.microsoft.com/office/drawing/2010/main" val="0"/>
              </a:ext>
            </a:extLst>
          </a:blip>
          <a:srcRect l="71848" b="80811"/>
          <a:stretch>
            <a:fillRect/>
          </a:stretch>
        </p:blipFill>
        <p:spPr>
          <a:xfrm rot="16200000">
            <a:off x="9273905" y="2599649"/>
            <a:ext cx="1326936" cy="1402449"/>
          </a:xfrm>
          <a:prstGeom prst="rect">
            <a:avLst/>
          </a:prstGeom>
        </p:spPr>
      </p:pic>
      <p:sp>
        <p:nvSpPr>
          <p:cNvPr id="3" name="TextBox 2">
            <a:extLst>
              <a:ext uri="{FF2B5EF4-FFF2-40B4-BE49-F238E27FC236}">
                <a16:creationId xmlns:a16="http://schemas.microsoft.com/office/drawing/2014/main" id="{7982F4C5-1F1A-5015-BF4D-9A5EB98DBD3E}"/>
              </a:ext>
            </a:extLst>
          </p:cNvPr>
          <p:cNvSpPr txBox="1"/>
          <p:nvPr/>
        </p:nvSpPr>
        <p:spPr>
          <a:xfrm>
            <a:off x="590550" y="6316991"/>
            <a:ext cx="11287125" cy="276999"/>
          </a:xfrm>
          <a:prstGeom prst="rect">
            <a:avLst/>
          </a:prstGeom>
          <a:noFill/>
        </p:spPr>
        <p:txBody>
          <a:bodyPr wrap="square">
            <a:spAutoFit/>
          </a:bodyPr>
          <a:lstStyle/>
          <a:p>
            <a:r>
              <a:rPr lang="en-IN" sz="1200" b="0" i="0" dirty="0">
                <a:solidFill>
                  <a:srgbClr val="222222"/>
                </a:solidFill>
                <a:effectLst/>
                <a:latin typeface="Arial" panose="020B0604020202020204" pitchFamily="34" charset="0"/>
              </a:rPr>
              <a:t>Source : Kohl, Simon AA, et al. "A hierarchical probabilistic u-net for </a:t>
            </a:r>
            <a:r>
              <a:rPr lang="en-IN" sz="1200" b="0" i="0" dirty="0" err="1">
                <a:solidFill>
                  <a:srgbClr val="222222"/>
                </a:solidFill>
                <a:effectLst/>
                <a:latin typeface="Arial" panose="020B0604020202020204" pitchFamily="34" charset="0"/>
              </a:rPr>
              <a:t>modeling</a:t>
            </a:r>
            <a:r>
              <a:rPr lang="en-IN" sz="1200" b="0" i="0" dirty="0">
                <a:solidFill>
                  <a:srgbClr val="222222"/>
                </a:solidFill>
                <a:effectLst/>
                <a:latin typeface="Arial" panose="020B0604020202020204" pitchFamily="34" charset="0"/>
              </a:rPr>
              <a:t> multi-scale ambiguities." </a:t>
            </a:r>
            <a:r>
              <a:rPr lang="en-IN" sz="1200" b="0" i="1" dirty="0" err="1">
                <a:solidFill>
                  <a:srgbClr val="222222"/>
                </a:solidFill>
                <a:effectLst/>
                <a:latin typeface="Arial" panose="020B0604020202020204" pitchFamily="34" charset="0"/>
              </a:rPr>
              <a:t>arXiv</a:t>
            </a:r>
            <a:r>
              <a:rPr lang="en-IN" sz="1200" b="0" i="1" dirty="0">
                <a:solidFill>
                  <a:srgbClr val="222222"/>
                </a:solidFill>
                <a:effectLst/>
                <a:latin typeface="Arial" panose="020B0604020202020204" pitchFamily="34" charset="0"/>
              </a:rPr>
              <a:t> preprint arXiv:1905.13077</a:t>
            </a:r>
            <a:r>
              <a:rPr lang="en-IN" sz="1200" b="0" i="0" dirty="0">
                <a:solidFill>
                  <a:srgbClr val="222222"/>
                </a:solidFill>
                <a:effectLst/>
                <a:latin typeface="Arial" panose="020B0604020202020204" pitchFamily="34" charset="0"/>
              </a:rPr>
              <a:t> (2019).</a:t>
            </a:r>
            <a:endParaRPr lang="en-IN" sz="1200" dirty="0"/>
          </a:p>
        </p:txBody>
      </p:sp>
    </p:spTree>
    <p:extLst>
      <p:ext uri="{BB962C8B-B14F-4D97-AF65-F5344CB8AC3E}">
        <p14:creationId xmlns:p14="http://schemas.microsoft.com/office/powerpoint/2010/main" val="1392069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250"/>
                                  </p:stCondLst>
                                  <p:childTnLst>
                                    <p:set>
                                      <p:cBhvr>
                                        <p:cTn id="11" dur="1" fill="hold">
                                          <p:stCondLst>
                                            <p:cond delay="0"/>
                                          </p:stCondLst>
                                        </p:cTn>
                                        <p:tgtEl>
                                          <p:spTgt spid="19"/>
                                        </p:tgtEl>
                                        <p:attrNameLst>
                                          <p:attrName>style.visibility</p:attrName>
                                        </p:attrNameLst>
                                      </p:cBhvr>
                                      <p:to>
                                        <p:strVal val="visible"/>
                                      </p:to>
                                    </p:set>
                                  </p:childTnLst>
                                </p:cTn>
                              </p:par>
                            </p:childTnLst>
                          </p:cTn>
                        </p:par>
                        <p:par>
                          <p:cTn id="12" fill="hold">
                            <p:stCondLst>
                              <p:cond delay="250"/>
                            </p:stCondLst>
                            <p:childTnLst>
                              <p:par>
                                <p:cTn id="13" presetID="1" presetClass="entr" presetSubtype="0"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250"/>
                                        <p:tgtEl>
                                          <p:spTgt spid="9"/>
                                        </p:tgtEl>
                                      </p:cBhvr>
                                    </p:animEffect>
                                  </p:childTnLst>
                                </p:cTn>
                              </p:par>
                            </p:childTnLst>
                          </p:cTn>
                        </p:par>
                        <p:par>
                          <p:cTn id="20" fill="hold">
                            <p:stCondLst>
                              <p:cond delay="250"/>
                            </p:stCondLst>
                            <p:childTnLst>
                              <p:par>
                                <p:cTn id="21" presetID="22" presetClass="entr" presetSubtype="8"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250"/>
                                        <p:tgtEl>
                                          <p:spTgt spid="5"/>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250"/>
                                        <p:tgtEl>
                                          <p:spTgt spid="18"/>
                                        </p:tgtEl>
                                      </p:cBhvr>
                                    </p:animEffect>
                                  </p:childTnLst>
                                </p:cTn>
                              </p:par>
                            </p:childTnLst>
                          </p:cTn>
                        </p:par>
                        <p:par>
                          <p:cTn id="28" fill="hold">
                            <p:stCondLst>
                              <p:cond delay="750"/>
                            </p:stCondLst>
                            <p:childTnLst>
                              <p:par>
                                <p:cTn id="29" presetID="22" presetClass="entr" presetSubtype="8"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00813-A7C3-93E7-4204-3F8C9C7F89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7CB49B-6B66-5B06-2D04-7F5460C7F790}"/>
              </a:ext>
            </a:extLst>
          </p:cNvPr>
          <p:cNvSpPr>
            <a:spLocks noGrp="1"/>
          </p:cNvSpPr>
          <p:nvPr>
            <p:ph type="title"/>
          </p:nvPr>
        </p:nvSpPr>
        <p:spPr/>
        <p:txBody>
          <a:bodyPr/>
          <a:lstStyle/>
          <a:p>
            <a:r>
              <a:rPr lang="en-US" dirty="0"/>
              <a:t>Hierarchical Probabilistic U-Net (HPU-Net)</a:t>
            </a:r>
            <a:endParaRPr lang="en-IN" dirty="0"/>
          </a:p>
        </p:txBody>
      </p:sp>
      <p:pic>
        <p:nvPicPr>
          <p:cNvPr id="5" name="Content Placeholder 4">
            <a:extLst>
              <a:ext uri="{FF2B5EF4-FFF2-40B4-BE49-F238E27FC236}">
                <a16:creationId xmlns:a16="http://schemas.microsoft.com/office/drawing/2014/main" id="{AAB71622-B85E-77C5-8B57-4BCD7BF39CBB}"/>
              </a:ext>
            </a:extLst>
          </p:cNvPr>
          <p:cNvPicPr>
            <a:picLocks noGrp="1" noChangeAspect="1"/>
          </p:cNvPicPr>
          <p:nvPr>
            <p:ph idx="1"/>
          </p:nvPr>
        </p:nvPicPr>
        <p:blipFill>
          <a:blip r:embed="rId3"/>
          <a:srcRect l="16220"/>
          <a:stretch>
            <a:fillRect/>
          </a:stretch>
        </p:blipFill>
        <p:spPr>
          <a:xfrm>
            <a:off x="6358270" y="2655103"/>
            <a:ext cx="1799560" cy="1547794"/>
          </a:xfrm>
          <a:prstGeom prst="rect">
            <a:avLst/>
          </a:prstGeom>
        </p:spPr>
      </p:pic>
      <p:cxnSp>
        <p:nvCxnSpPr>
          <p:cNvPr id="9" name="Straight Arrow Connector 8">
            <a:extLst>
              <a:ext uri="{FF2B5EF4-FFF2-40B4-BE49-F238E27FC236}">
                <a16:creationId xmlns:a16="http://schemas.microsoft.com/office/drawing/2014/main" id="{CCE7DB0B-FB08-EEAF-A343-ABA5C2282FEC}"/>
              </a:ext>
            </a:extLst>
          </p:cNvPr>
          <p:cNvCxnSpPr>
            <a:cxnSpLocks/>
            <a:endCxn id="5" idx="1"/>
          </p:cNvCxnSpPr>
          <p:nvPr/>
        </p:nvCxnSpPr>
        <p:spPr>
          <a:xfrm>
            <a:off x="2955851" y="3429000"/>
            <a:ext cx="3296093"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505F5242-F325-129E-3D33-D7E889922E29}"/>
              </a:ext>
            </a:extLst>
          </p:cNvPr>
          <p:cNvCxnSpPr>
            <a:cxnSpLocks/>
          </p:cNvCxnSpPr>
          <p:nvPr/>
        </p:nvCxnSpPr>
        <p:spPr>
          <a:xfrm>
            <a:off x="8176437" y="3428999"/>
            <a:ext cx="973857"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6A69451E-60B4-DF60-A1CC-670842422DB0}"/>
              </a:ext>
            </a:extLst>
          </p:cNvPr>
          <p:cNvSpPr txBox="1"/>
          <p:nvPr/>
        </p:nvSpPr>
        <p:spPr>
          <a:xfrm>
            <a:off x="1779837" y="3833565"/>
            <a:ext cx="1078992" cy="369332"/>
          </a:xfrm>
          <a:prstGeom prst="rect">
            <a:avLst/>
          </a:prstGeom>
          <a:noFill/>
        </p:spPr>
        <p:txBody>
          <a:bodyPr wrap="square" rtlCol="0">
            <a:spAutoFit/>
          </a:bodyPr>
          <a:lstStyle/>
          <a:p>
            <a:pPr algn="ctr"/>
            <a:r>
              <a:rPr lang="en-US" dirty="0"/>
              <a:t>Image</a:t>
            </a:r>
            <a:endParaRPr lang="en-IN" dirty="0"/>
          </a:p>
        </p:txBody>
      </p:sp>
      <p:sp>
        <p:nvSpPr>
          <p:cNvPr id="17" name="TextBox 16">
            <a:extLst>
              <a:ext uri="{FF2B5EF4-FFF2-40B4-BE49-F238E27FC236}">
                <a16:creationId xmlns:a16="http://schemas.microsoft.com/office/drawing/2014/main" id="{3CA3AB30-6082-689E-4245-B2BD8877EAE5}"/>
              </a:ext>
            </a:extLst>
          </p:cNvPr>
          <p:cNvSpPr txBox="1"/>
          <p:nvPr/>
        </p:nvSpPr>
        <p:spPr>
          <a:xfrm>
            <a:off x="8652356" y="5596322"/>
            <a:ext cx="2520698" cy="369332"/>
          </a:xfrm>
          <a:prstGeom prst="rect">
            <a:avLst/>
          </a:prstGeom>
          <a:noFill/>
        </p:spPr>
        <p:txBody>
          <a:bodyPr wrap="square" rtlCol="0">
            <a:spAutoFit/>
          </a:bodyPr>
          <a:lstStyle/>
          <a:p>
            <a:pPr algn="ctr"/>
            <a:r>
              <a:rPr lang="en-US" dirty="0"/>
              <a:t>Predicted Samples</a:t>
            </a:r>
            <a:endParaRPr lang="en-IN" dirty="0"/>
          </a:p>
        </p:txBody>
      </p:sp>
      <p:sp>
        <p:nvSpPr>
          <p:cNvPr id="3" name="TextBox 2">
            <a:extLst>
              <a:ext uri="{FF2B5EF4-FFF2-40B4-BE49-F238E27FC236}">
                <a16:creationId xmlns:a16="http://schemas.microsoft.com/office/drawing/2014/main" id="{74C2E2F6-5CA5-B489-2766-78A1D0DE56C2}"/>
              </a:ext>
            </a:extLst>
          </p:cNvPr>
          <p:cNvSpPr txBox="1"/>
          <p:nvPr/>
        </p:nvSpPr>
        <p:spPr>
          <a:xfrm>
            <a:off x="5906877" y="4186912"/>
            <a:ext cx="2756488" cy="646331"/>
          </a:xfrm>
          <a:prstGeom prst="rect">
            <a:avLst/>
          </a:prstGeom>
          <a:noFill/>
        </p:spPr>
        <p:txBody>
          <a:bodyPr wrap="square" rtlCol="0">
            <a:spAutoFit/>
          </a:bodyPr>
          <a:lstStyle/>
          <a:p>
            <a:pPr algn="ctr"/>
            <a:r>
              <a:rPr lang="en-US" dirty="0"/>
              <a:t>U-Net + Conditional  VAE</a:t>
            </a:r>
            <a:endParaRPr lang="en-IN" dirty="0"/>
          </a:p>
          <a:p>
            <a:pPr algn="ctr"/>
            <a:endParaRPr lang="en-IN" dirty="0"/>
          </a:p>
        </p:txBody>
      </p:sp>
      <p:pic>
        <p:nvPicPr>
          <p:cNvPr id="6" name="Picture 5">
            <a:extLst>
              <a:ext uri="{FF2B5EF4-FFF2-40B4-BE49-F238E27FC236}">
                <a16:creationId xmlns:a16="http://schemas.microsoft.com/office/drawing/2014/main" id="{12E5F06D-9C4D-C8F8-6A1A-F5C156F2CD91}"/>
              </a:ext>
            </a:extLst>
          </p:cNvPr>
          <p:cNvPicPr>
            <a:picLocks noChangeAspect="1"/>
          </p:cNvPicPr>
          <p:nvPr/>
        </p:nvPicPr>
        <p:blipFill>
          <a:blip r:embed="rId4"/>
          <a:srcRect l="9351" t="6816"/>
          <a:stretch>
            <a:fillRect/>
          </a:stretch>
        </p:blipFill>
        <p:spPr>
          <a:xfrm>
            <a:off x="1770533" y="2749347"/>
            <a:ext cx="1078992" cy="1165328"/>
          </a:xfrm>
          <a:prstGeom prst="rect">
            <a:avLst/>
          </a:prstGeom>
        </p:spPr>
      </p:pic>
      <p:pic>
        <p:nvPicPr>
          <p:cNvPr id="8" name="Picture 7">
            <a:extLst>
              <a:ext uri="{FF2B5EF4-FFF2-40B4-BE49-F238E27FC236}">
                <a16:creationId xmlns:a16="http://schemas.microsoft.com/office/drawing/2014/main" id="{05B5D82F-FE1C-F173-C8B1-12FD93F9C084}"/>
              </a:ext>
            </a:extLst>
          </p:cNvPr>
          <p:cNvPicPr>
            <a:picLocks noChangeAspect="1"/>
          </p:cNvPicPr>
          <p:nvPr/>
        </p:nvPicPr>
        <p:blipFill>
          <a:blip r:embed="rId5"/>
          <a:srcRect t="687"/>
          <a:stretch>
            <a:fillRect/>
          </a:stretch>
        </p:blipFill>
        <p:spPr>
          <a:xfrm>
            <a:off x="9413247" y="1548627"/>
            <a:ext cx="998916" cy="4038071"/>
          </a:xfrm>
          <a:prstGeom prst="rect">
            <a:avLst/>
          </a:prstGeom>
        </p:spPr>
      </p:pic>
      <p:sp>
        <p:nvSpPr>
          <p:cNvPr id="4" name="TextBox 3">
            <a:extLst>
              <a:ext uri="{FF2B5EF4-FFF2-40B4-BE49-F238E27FC236}">
                <a16:creationId xmlns:a16="http://schemas.microsoft.com/office/drawing/2014/main" id="{E46E5E74-26FB-5C18-FDD0-03B576B3ECCD}"/>
              </a:ext>
            </a:extLst>
          </p:cNvPr>
          <p:cNvSpPr txBox="1"/>
          <p:nvPr/>
        </p:nvSpPr>
        <p:spPr>
          <a:xfrm>
            <a:off x="590550" y="6316991"/>
            <a:ext cx="11287125" cy="276999"/>
          </a:xfrm>
          <a:prstGeom prst="rect">
            <a:avLst/>
          </a:prstGeom>
          <a:noFill/>
        </p:spPr>
        <p:txBody>
          <a:bodyPr wrap="square">
            <a:spAutoFit/>
          </a:bodyPr>
          <a:lstStyle/>
          <a:p>
            <a:r>
              <a:rPr lang="en-IN" sz="1200" b="0" i="0" dirty="0">
                <a:solidFill>
                  <a:srgbClr val="222222"/>
                </a:solidFill>
                <a:effectLst/>
                <a:latin typeface="Arial" panose="020B0604020202020204" pitchFamily="34" charset="0"/>
              </a:rPr>
              <a:t>Source : Kohl, Simon AA, et al. "A hierarchical probabilistic u-net for </a:t>
            </a:r>
            <a:r>
              <a:rPr lang="en-IN" sz="1200" b="0" i="0" dirty="0" err="1">
                <a:solidFill>
                  <a:srgbClr val="222222"/>
                </a:solidFill>
                <a:effectLst/>
                <a:latin typeface="Arial" panose="020B0604020202020204" pitchFamily="34" charset="0"/>
              </a:rPr>
              <a:t>modeling</a:t>
            </a:r>
            <a:r>
              <a:rPr lang="en-IN" sz="1200" b="0" i="0" dirty="0">
                <a:solidFill>
                  <a:srgbClr val="222222"/>
                </a:solidFill>
                <a:effectLst/>
                <a:latin typeface="Arial" panose="020B0604020202020204" pitchFamily="34" charset="0"/>
              </a:rPr>
              <a:t> multi-scale ambiguities." </a:t>
            </a:r>
            <a:r>
              <a:rPr lang="en-IN" sz="1200" b="0" i="1" dirty="0" err="1">
                <a:solidFill>
                  <a:srgbClr val="222222"/>
                </a:solidFill>
                <a:effectLst/>
                <a:latin typeface="Arial" panose="020B0604020202020204" pitchFamily="34" charset="0"/>
              </a:rPr>
              <a:t>arXiv</a:t>
            </a:r>
            <a:r>
              <a:rPr lang="en-IN" sz="1200" b="0" i="1" dirty="0">
                <a:solidFill>
                  <a:srgbClr val="222222"/>
                </a:solidFill>
                <a:effectLst/>
                <a:latin typeface="Arial" panose="020B0604020202020204" pitchFamily="34" charset="0"/>
              </a:rPr>
              <a:t> preprint arXiv:1905.13077</a:t>
            </a:r>
            <a:r>
              <a:rPr lang="en-IN" sz="1200" b="0" i="0" dirty="0">
                <a:solidFill>
                  <a:srgbClr val="222222"/>
                </a:solidFill>
                <a:effectLst/>
                <a:latin typeface="Arial" panose="020B0604020202020204" pitchFamily="34" charset="0"/>
              </a:rPr>
              <a:t> (2019).</a:t>
            </a:r>
            <a:endParaRPr lang="en-IN" sz="1200" dirty="0"/>
          </a:p>
        </p:txBody>
      </p:sp>
    </p:spTree>
    <p:extLst>
      <p:ext uri="{BB962C8B-B14F-4D97-AF65-F5344CB8AC3E}">
        <p14:creationId xmlns:p14="http://schemas.microsoft.com/office/powerpoint/2010/main" val="2505518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25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250"/>
                                        <p:tgtEl>
                                          <p:spTgt spid="16"/>
                                        </p:tgtEl>
                                      </p:cBhvr>
                                    </p:animEffect>
                                  </p:childTnLst>
                                </p:cTn>
                              </p:par>
                            </p:childTnLst>
                          </p:cTn>
                        </p:par>
                        <p:par>
                          <p:cTn id="11" fill="hold">
                            <p:stCondLst>
                              <p:cond delay="250"/>
                            </p:stCondLst>
                            <p:childTnLst>
                              <p:par>
                                <p:cTn id="12" presetID="22" presetClass="entr" presetSubtype="8"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left)">
                                      <p:cBhvr>
                                        <p:cTn id="14" dur="250"/>
                                        <p:tgtEl>
                                          <p:spTgt spid="9"/>
                                        </p:tgtEl>
                                      </p:cBhvr>
                                    </p:animEffect>
                                  </p:childTnLst>
                                </p:cTn>
                              </p:par>
                            </p:childTnLst>
                          </p:cTn>
                        </p:par>
                        <p:par>
                          <p:cTn id="15" fill="hold">
                            <p:stCondLst>
                              <p:cond delay="500"/>
                            </p:stCondLst>
                            <p:childTnLst>
                              <p:par>
                                <p:cTn id="16" presetID="22" presetClass="entr" presetSubtype="8"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250"/>
                                        <p:tgtEl>
                                          <p:spTgt spid="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250"/>
                                        <p:tgtEl>
                                          <p:spTgt spid="3"/>
                                        </p:tgtEl>
                                      </p:cBhvr>
                                    </p:animEffect>
                                  </p:childTnLst>
                                </p:cTn>
                              </p:par>
                            </p:childTnLst>
                          </p:cTn>
                        </p:par>
                        <p:par>
                          <p:cTn id="22" fill="hold">
                            <p:stCondLst>
                              <p:cond delay="750"/>
                            </p:stCondLst>
                            <p:childTnLst>
                              <p:par>
                                <p:cTn id="23" presetID="22" presetClass="entr" presetSubtype="8" fill="hold"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left)">
                                      <p:cBhvr>
                                        <p:cTn id="25" dur="250"/>
                                        <p:tgtEl>
                                          <p:spTgt spid="14"/>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250"/>
                                        <p:tgtEl>
                                          <p:spTgt spid="8"/>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left)">
                                      <p:cBhvr>
                                        <p:cTn id="32"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262288A-31D2-CCFF-02DE-FE4042F10D2E}"/>
              </a:ext>
            </a:extLst>
          </p:cNvPr>
          <p:cNvSpPr txBox="1"/>
          <p:nvPr/>
        </p:nvSpPr>
        <p:spPr>
          <a:xfrm>
            <a:off x="2511754" y="2844224"/>
            <a:ext cx="2281570" cy="584775"/>
          </a:xfrm>
          <a:prstGeom prst="rect">
            <a:avLst/>
          </a:prstGeom>
          <a:noFill/>
        </p:spPr>
        <p:txBody>
          <a:bodyPr wrap="square" rtlCol="0">
            <a:spAutoFit/>
          </a:bodyPr>
          <a:lstStyle/>
          <a:p>
            <a:pPr algn="ctr"/>
            <a:r>
              <a:rPr lang="en-US" sz="3200" b="1" dirty="0">
                <a:latin typeface="+mn-lt"/>
              </a:rPr>
              <a:t>Sampling</a:t>
            </a:r>
            <a:endParaRPr lang="en-IN" sz="3200" b="1" dirty="0"/>
          </a:p>
        </p:txBody>
      </p:sp>
      <p:sp>
        <p:nvSpPr>
          <p:cNvPr id="8" name="Title 1">
            <a:extLst>
              <a:ext uri="{FF2B5EF4-FFF2-40B4-BE49-F238E27FC236}">
                <a16:creationId xmlns:a16="http://schemas.microsoft.com/office/drawing/2014/main" id="{4A92585D-7C88-BBB9-5464-9183C13C58DE}"/>
              </a:ext>
            </a:extLst>
          </p:cNvPr>
          <p:cNvSpPr>
            <a:spLocks noGrp="1"/>
          </p:cNvSpPr>
          <p:nvPr>
            <p:ph type="title"/>
          </p:nvPr>
        </p:nvSpPr>
        <p:spPr>
          <a:xfrm>
            <a:off x="838200" y="365125"/>
            <a:ext cx="10515600" cy="1325563"/>
          </a:xfrm>
        </p:spPr>
        <p:txBody>
          <a:bodyPr/>
          <a:lstStyle/>
          <a:p>
            <a:r>
              <a:rPr lang="en-US" dirty="0"/>
              <a:t>Probabilistic U-Net (</a:t>
            </a:r>
            <a:r>
              <a:rPr lang="en-US" dirty="0" err="1"/>
              <a:t>sPU</a:t>
            </a:r>
            <a:r>
              <a:rPr lang="en-US" dirty="0"/>
              <a:t>-Net)</a:t>
            </a:r>
            <a:endParaRPr lang="en-IN" dirty="0"/>
          </a:p>
        </p:txBody>
      </p:sp>
      <p:sp>
        <p:nvSpPr>
          <p:cNvPr id="4" name="TextBox 3">
            <a:extLst>
              <a:ext uri="{FF2B5EF4-FFF2-40B4-BE49-F238E27FC236}">
                <a16:creationId xmlns:a16="http://schemas.microsoft.com/office/drawing/2014/main" id="{D86BAD11-4FB6-C38E-12A2-602E8DDFBA81}"/>
              </a:ext>
            </a:extLst>
          </p:cNvPr>
          <p:cNvSpPr txBox="1"/>
          <p:nvPr/>
        </p:nvSpPr>
        <p:spPr>
          <a:xfrm>
            <a:off x="7204069" y="2848995"/>
            <a:ext cx="2281570" cy="584775"/>
          </a:xfrm>
          <a:prstGeom prst="rect">
            <a:avLst/>
          </a:prstGeom>
          <a:noFill/>
        </p:spPr>
        <p:txBody>
          <a:bodyPr wrap="square" rtlCol="0">
            <a:spAutoFit/>
          </a:bodyPr>
          <a:lstStyle/>
          <a:p>
            <a:pPr algn="ctr"/>
            <a:r>
              <a:rPr lang="en-US" sz="3200" b="1" dirty="0">
                <a:latin typeface="+mn-lt"/>
              </a:rPr>
              <a:t>Training</a:t>
            </a:r>
            <a:endParaRPr lang="en-IN" sz="3200" b="1" dirty="0"/>
          </a:p>
        </p:txBody>
      </p:sp>
    </p:spTree>
    <p:extLst>
      <p:ext uri="{BB962C8B-B14F-4D97-AF65-F5344CB8AC3E}">
        <p14:creationId xmlns:p14="http://schemas.microsoft.com/office/powerpoint/2010/main" val="3985154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350"/>
                                  </p:stCondLst>
                                  <p:childTnLst>
                                    <p:set>
                                      <p:cBhvr>
                                        <p:cTn id="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7B3D1-DBAD-F92A-0D24-CE40AC0D060F}"/>
            </a:ext>
          </a:extLst>
        </p:cNvPr>
        <p:cNvGrpSpPr/>
        <p:nvPr/>
      </p:nvGrpSpPr>
      <p:grpSpPr>
        <a:xfrm>
          <a:off x="0" y="0"/>
          <a:ext cx="0" cy="0"/>
          <a:chOff x="0" y="0"/>
          <a:chExt cx="0" cy="0"/>
        </a:xfrm>
      </p:grpSpPr>
      <p:pic>
        <p:nvPicPr>
          <p:cNvPr id="5" name="Content Placeholder 4" descr="A diagram of a photo processing process&#10;&#10;AI-generated content may be incorrect.">
            <a:extLst>
              <a:ext uri="{FF2B5EF4-FFF2-40B4-BE49-F238E27FC236}">
                <a16:creationId xmlns:a16="http://schemas.microsoft.com/office/drawing/2014/main" id="{102DA764-BC0C-45FE-87CB-FE9F37BAF06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4131" t="10464" r="60913" b="4245"/>
          <a:stretch>
            <a:fillRect/>
          </a:stretch>
        </p:blipFill>
        <p:spPr>
          <a:xfrm>
            <a:off x="3198394" y="925772"/>
            <a:ext cx="5795211" cy="5691288"/>
          </a:xfrm>
          <a:prstGeom prst="roundRect">
            <a:avLst/>
          </a:prstGeom>
        </p:spPr>
      </p:pic>
      <p:sp>
        <p:nvSpPr>
          <p:cNvPr id="6" name="TextBox 5">
            <a:extLst>
              <a:ext uri="{FF2B5EF4-FFF2-40B4-BE49-F238E27FC236}">
                <a16:creationId xmlns:a16="http://schemas.microsoft.com/office/drawing/2014/main" id="{DB2628A9-0525-6669-852A-8AF63ABF6638}"/>
              </a:ext>
            </a:extLst>
          </p:cNvPr>
          <p:cNvSpPr txBox="1"/>
          <p:nvPr/>
        </p:nvSpPr>
        <p:spPr>
          <a:xfrm>
            <a:off x="4955214" y="5736096"/>
            <a:ext cx="2281570" cy="584775"/>
          </a:xfrm>
          <a:prstGeom prst="rect">
            <a:avLst/>
          </a:prstGeom>
          <a:noFill/>
        </p:spPr>
        <p:txBody>
          <a:bodyPr wrap="square" rtlCol="0">
            <a:spAutoFit/>
          </a:bodyPr>
          <a:lstStyle/>
          <a:p>
            <a:pPr algn="ctr"/>
            <a:r>
              <a:rPr lang="en-US" sz="3200" b="1" dirty="0">
                <a:latin typeface="+mn-lt"/>
              </a:rPr>
              <a:t>Sampling</a:t>
            </a:r>
            <a:endParaRPr lang="en-IN" sz="3200" b="1" dirty="0"/>
          </a:p>
        </p:txBody>
      </p:sp>
      <p:sp>
        <p:nvSpPr>
          <p:cNvPr id="8" name="Title 1">
            <a:extLst>
              <a:ext uri="{FF2B5EF4-FFF2-40B4-BE49-F238E27FC236}">
                <a16:creationId xmlns:a16="http://schemas.microsoft.com/office/drawing/2014/main" id="{1C494A88-D43C-3A13-5A1B-363330F944EE}"/>
              </a:ext>
            </a:extLst>
          </p:cNvPr>
          <p:cNvSpPr>
            <a:spLocks noGrp="1"/>
          </p:cNvSpPr>
          <p:nvPr>
            <p:ph type="title"/>
          </p:nvPr>
        </p:nvSpPr>
        <p:spPr>
          <a:xfrm>
            <a:off x="838200" y="365125"/>
            <a:ext cx="10515600" cy="1325563"/>
          </a:xfrm>
        </p:spPr>
        <p:txBody>
          <a:bodyPr/>
          <a:lstStyle/>
          <a:p>
            <a:r>
              <a:rPr lang="en-US" dirty="0"/>
              <a:t>Probabilistic U-Net (</a:t>
            </a:r>
            <a:r>
              <a:rPr lang="en-US" dirty="0" err="1"/>
              <a:t>sPU</a:t>
            </a:r>
            <a:r>
              <a:rPr lang="en-US" dirty="0"/>
              <a:t>-Net)</a:t>
            </a:r>
            <a:endParaRPr lang="en-IN" dirty="0"/>
          </a:p>
        </p:txBody>
      </p:sp>
      <p:sp>
        <p:nvSpPr>
          <p:cNvPr id="3" name="TextBox 2">
            <a:extLst>
              <a:ext uri="{FF2B5EF4-FFF2-40B4-BE49-F238E27FC236}">
                <a16:creationId xmlns:a16="http://schemas.microsoft.com/office/drawing/2014/main" id="{FFA56D3B-4C9D-FC5C-388E-11FB1FB108A6}"/>
              </a:ext>
            </a:extLst>
          </p:cNvPr>
          <p:cNvSpPr txBox="1"/>
          <p:nvPr/>
        </p:nvSpPr>
        <p:spPr>
          <a:xfrm>
            <a:off x="581025" y="6241935"/>
            <a:ext cx="11277600" cy="276999"/>
          </a:xfrm>
          <a:prstGeom prst="rect">
            <a:avLst/>
          </a:prstGeom>
          <a:noFill/>
        </p:spPr>
        <p:txBody>
          <a:bodyPr wrap="square">
            <a:spAutoFit/>
          </a:bodyPr>
          <a:lstStyle>
            <a:defPPr>
              <a:defRPr lang="en-US"/>
            </a:defPPr>
            <a:lvl1pPr>
              <a:defRPr sz="1400" b="0" i="0">
                <a:solidFill>
                  <a:srgbClr val="222222"/>
                </a:solidFill>
                <a:effectLst/>
                <a:latin typeface="Arial" panose="020B0604020202020204" pitchFamily="34" charset="0"/>
              </a:defRPr>
            </a:lvl1pPr>
          </a:lstStyle>
          <a:p>
            <a:r>
              <a:rPr lang="en-IN" sz="1200" dirty="0"/>
              <a:t>Source : Kohl, Simon, et al. "A probabilistic u-net for segmentation of ambiguous images." Advances in neural information processing systems 31 (2018).</a:t>
            </a:r>
          </a:p>
        </p:txBody>
      </p:sp>
    </p:spTree>
    <p:extLst>
      <p:ext uri="{BB962C8B-B14F-4D97-AF65-F5344CB8AC3E}">
        <p14:creationId xmlns:p14="http://schemas.microsoft.com/office/powerpoint/2010/main" val="134725566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B02096B-E47A-0B2D-C180-75304B7FD8C3}"/>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b="952"/>
          <a:stretch>
            <a:fillRect/>
          </a:stretch>
        </p:blipFill>
        <p:spPr>
          <a:xfrm>
            <a:off x="2738401" y="1577366"/>
            <a:ext cx="6715197" cy="4250966"/>
          </a:xfrm>
        </p:spPr>
      </p:pic>
      <p:sp>
        <p:nvSpPr>
          <p:cNvPr id="6" name="TextBox 5">
            <a:extLst>
              <a:ext uri="{FF2B5EF4-FFF2-40B4-BE49-F238E27FC236}">
                <a16:creationId xmlns:a16="http://schemas.microsoft.com/office/drawing/2014/main" id="{D0ADF3D2-42A8-48BF-610F-06C40707B56D}"/>
              </a:ext>
            </a:extLst>
          </p:cNvPr>
          <p:cNvSpPr txBox="1"/>
          <p:nvPr/>
        </p:nvSpPr>
        <p:spPr>
          <a:xfrm>
            <a:off x="5180493" y="5728131"/>
            <a:ext cx="2326094" cy="584775"/>
          </a:xfrm>
          <a:prstGeom prst="rect">
            <a:avLst/>
          </a:prstGeom>
          <a:noFill/>
        </p:spPr>
        <p:txBody>
          <a:bodyPr wrap="square" rtlCol="0">
            <a:spAutoFit/>
          </a:bodyPr>
          <a:lstStyle>
            <a:defPPr>
              <a:defRPr lang="en-US"/>
            </a:defPPr>
            <a:lvl1pPr algn="ctr">
              <a:defRPr sz="3200" b="1"/>
            </a:lvl1pPr>
          </a:lstStyle>
          <a:p>
            <a:r>
              <a:rPr lang="en-US" dirty="0"/>
              <a:t>Training</a:t>
            </a:r>
            <a:endParaRPr lang="en-IN" dirty="0"/>
          </a:p>
        </p:txBody>
      </p:sp>
      <p:sp>
        <p:nvSpPr>
          <p:cNvPr id="4" name="Title 1">
            <a:extLst>
              <a:ext uri="{FF2B5EF4-FFF2-40B4-BE49-F238E27FC236}">
                <a16:creationId xmlns:a16="http://schemas.microsoft.com/office/drawing/2014/main" id="{69655D2A-6FA5-A48D-EEA7-C04AC7B6C91F}"/>
              </a:ext>
            </a:extLst>
          </p:cNvPr>
          <p:cNvSpPr>
            <a:spLocks noGrp="1"/>
          </p:cNvSpPr>
          <p:nvPr>
            <p:ph type="title"/>
          </p:nvPr>
        </p:nvSpPr>
        <p:spPr>
          <a:xfrm>
            <a:off x="838200" y="375758"/>
            <a:ext cx="10515600" cy="1325563"/>
          </a:xfrm>
        </p:spPr>
        <p:txBody>
          <a:bodyPr/>
          <a:lstStyle/>
          <a:p>
            <a:r>
              <a:rPr lang="en-US" dirty="0"/>
              <a:t>Probabilistic U-Net (</a:t>
            </a:r>
            <a:r>
              <a:rPr lang="en-US" dirty="0" err="1"/>
              <a:t>sPU</a:t>
            </a:r>
            <a:r>
              <a:rPr lang="en-US" dirty="0"/>
              <a:t>-Net)</a:t>
            </a:r>
            <a:endParaRPr lang="en-IN" dirty="0"/>
          </a:p>
        </p:txBody>
      </p:sp>
      <p:sp>
        <p:nvSpPr>
          <p:cNvPr id="2" name="TextBox 1">
            <a:extLst>
              <a:ext uri="{FF2B5EF4-FFF2-40B4-BE49-F238E27FC236}">
                <a16:creationId xmlns:a16="http://schemas.microsoft.com/office/drawing/2014/main" id="{84299034-FEF4-03F2-41D6-4DA7C5262551}"/>
              </a:ext>
            </a:extLst>
          </p:cNvPr>
          <p:cNvSpPr txBox="1"/>
          <p:nvPr/>
        </p:nvSpPr>
        <p:spPr>
          <a:xfrm>
            <a:off x="581025" y="6241935"/>
            <a:ext cx="11277600" cy="276999"/>
          </a:xfrm>
          <a:prstGeom prst="rect">
            <a:avLst/>
          </a:prstGeom>
          <a:noFill/>
        </p:spPr>
        <p:txBody>
          <a:bodyPr wrap="square">
            <a:spAutoFit/>
          </a:bodyPr>
          <a:lstStyle>
            <a:defPPr>
              <a:defRPr lang="en-US"/>
            </a:defPPr>
            <a:lvl1pPr>
              <a:defRPr sz="1400" b="0" i="0">
                <a:solidFill>
                  <a:srgbClr val="222222"/>
                </a:solidFill>
                <a:effectLst/>
                <a:latin typeface="Arial" panose="020B0604020202020204" pitchFamily="34" charset="0"/>
              </a:defRPr>
            </a:lvl1pPr>
          </a:lstStyle>
          <a:p>
            <a:r>
              <a:rPr lang="en-IN" sz="1200" dirty="0"/>
              <a:t>Source : Kohl, Simon, et al. "A probabilistic u-net for segmentation of ambiguous images." Advances in neural information processing systems 31 (2018).</a:t>
            </a:r>
          </a:p>
        </p:txBody>
      </p:sp>
    </p:spTree>
    <p:extLst>
      <p:ext uri="{BB962C8B-B14F-4D97-AF65-F5344CB8AC3E}">
        <p14:creationId xmlns:p14="http://schemas.microsoft.com/office/powerpoint/2010/main" val="1217463848"/>
      </p:ext>
    </p:extLst>
  </p:cSld>
  <p:clrMapOvr>
    <a:masterClrMapping/>
  </p:clrMapOvr>
  <p:transition>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0182A-65AE-CEF0-0083-3A3D30FF85FD}"/>
              </a:ext>
            </a:extLst>
          </p:cNvPr>
          <p:cNvSpPr>
            <a:spLocks noGrp="1"/>
          </p:cNvSpPr>
          <p:nvPr>
            <p:ph type="title"/>
          </p:nvPr>
        </p:nvSpPr>
        <p:spPr/>
        <p:txBody>
          <a:bodyPr/>
          <a:lstStyle/>
          <a:p>
            <a:r>
              <a:rPr lang="en-US" dirty="0"/>
              <a:t>Limitations of </a:t>
            </a:r>
            <a:r>
              <a:rPr lang="en-US" dirty="0" err="1"/>
              <a:t>sPU</a:t>
            </a:r>
            <a:r>
              <a:rPr lang="en-US" dirty="0"/>
              <a:t>-Net</a:t>
            </a:r>
            <a:endParaRPr lang="en-IN" dirty="0"/>
          </a:p>
        </p:txBody>
      </p:sp>
      <p:sp>
        <p:nvSpPr>
          <p:cNvPr id="10" name="Content Placeholder 9">
            <a:extLst>
              <a:ext uri="{FF2B5EF4-FFF2-40B4-BE49-F238E27FC236}">
                <a16:creationId xmlns:a16="http://schemas.microsoft.com/office/drawing/2014/main" id="{39860AC1-7F59-92A3-2C76-C8EC01F5614F}"/>
              </a:ext>
            </a:extLst>
          </p:cNvPr>
          <p:cNvSpPr>
            <a:spLocks noGrp="1"/>
          </p:cNvSpPr>
          <p:nvPr>
            <p:ph idx="1"/>
          </p:nvPr>
        </p:nvSpPr>
        <p:spPr>
          <a:xfrm>
            <a:off x="838200" y="1582639"/>
            <a:ext cx="10515600" cy="4351338"/>
          </a:xfrm>
        </p:spPr>
        <p:txBody>
          <a:bodyPr/>
          <a:lstStyle/>
          <a:p>
            <a:r>
              <a:rPr lang="en-IN" dirty="0"/>
              <a:t>Single global latent vector.</a:t>
            </a:r>
          </a:p>
          <a:p>
            <a:endParaRPr lang="en-IN" dirty="0"/>
          </a:p>
          <a:p>
            <a:r>
              <a:rPr lang="en-IN" dirty="0"/>
              <a:t>Coarse or blobby samples.</a:t>
            </a:r>
          </a:p>
          <a:p>
            <a:endParaRPr lang="en-IN" dirty="0"/>
          </a:p>
          <a:p>
            <a:r>
              <a:rPr lang="en-US" dirty="0"/>
              <a:t>Does not scale well to </a:t>
            </a:r>
            <a:r>
              <a:rPr lang="en-IN" dirty="0"/>
              <a:t>multi-scale </a:t>
            </a:r>
          </a:p>
          <a:p>
            <a:pPr marL="0" indent="0">
              <a:buNone/>
            </a:pPr>
            <a:r>
              <a:rPr lang="en-IN" dirty="0"/>
              <a:t>ambiguities.</a:t>
            </a:r>
          </a:p>
        </p:txBody>
      </p:sp>
      <p:pic>
        <p:nvPicPr>
          <p:cNvPr id="8" name="Picture 7">
            <a:extLst>
              <a:ext uri="{FF2B5EF4-FFF2-40B4-BE49-F238E27FC236}">
                <a16:creationId xmlns:a16="http://schemas.microsoft.com/office/drawing/2014/main" id="{D3D3FB7B-081A-748B-37EA-D26296D9AFC3}"/>
              </a:ext>
            </a:extLst>
          </p:cNvPr>
          <p:cNvPicPr>
            <a:picLocks noChangeAspect="1"/>
          </p:cNvPicPr>
          <p:nvPr/>
        </p:nvPicPr>
        <p:blipFill>
          <a:blip r:embed="rId2"/>
          <a:srcRect t="1162" r="5353" b="45129"/>
          <a:stretch>
            <a:fillRect/>
          </a:stretch>
        </p:blipFill>
        <p:spPr>
          <a:xfrm rot="16200000">
            <a:off x="8320848" y="-379445"/>
            <a:ext cx="1879565" cy="4838700"/>
          </a:xfrm>
          <a:prstGeom prst="rect">
            <a:avLst/>
          </a:prstGeom>
        </p:spPr>
      </p:pic>
      <p:pic>
        <p:nvPicPr>
          <p:cNvPr id="11" name="Picture 10">
            <a:extLst>
              <a:ext uri="{FF2B5EF4-FFF2-40B4-BE49-F238E27FC236}">
                <a16:creationId xmlns:a16="http://schemas.microsoft.com/office/drawing/2014/main" id="{7EE11223-9A5E-2F36-36E6-8B1880E04573}"/>
              </a:ext>
            </a:extLst>
          </p:cNvPr>
          <p:cNvPicPr>
            <a:picLocks noChangeAspect="1"/>
          </p:cNvPicPr>
          <p:nvPr/>
        </p:nvPicPr>
        <p:blipFill>
          <a:blip r:embed="rId2"/>
          <a:srcRect t="55309"/>
          <a:stretch>
            <a:fillRect/>
          </a:stretch>
        </p:blipFill>
        <p:spPr>
          <a:xfrm rot="16200000">
            <a:off x="8067327" y="1803788"/>
            <a:ext cx="2386607" cy="4838700"/>
          </a:xfrm>
          <a:prstGeom prst="rect">
            <a:avLst/>
          </a:prstGeom>
        </p:spPr>
      </p:pic>
      <p:sp>
        <p:nvSpPr>
          <p:cNvPr id="12" name="TextBox 11">
            <a:extLst>
              <a:ext uri="{FF2B5EF4-FFF2-40B4-BE49-F238E27FC236}">
                <a16:creationId xmlns:a16="http://schemas.microsoft.com/office/drawing/2014/main" id="{A84142B6-CBDA-B986-0F80-593686990792}"/>
              </a:ext>
            </a:extLst>
          </p:cNvPr>
          <p:cNvSpPr txBox="1"/>
          <p:nvPr/>
        </p:nvSpPr>
        <p:spPr>
          <a:xfrm>
            <a:off x="6841280" y="789216"/>
            <a:ext cx="998030" cy="369332"/>
          </a:xfrm>
          <a:prstGeom prst="rect">
            <a:avLst/>
          </a:prstGeom>
          <a:noFill/>
        </p:spPr>
        <p:txBody>
          <a:bodyPr wrap="none" rtlCol="0">
            <a:spAutoFit/>
          </a:bodyPr>
          <a:lstStyle/>
          <a:p>
            <a:r>
              <a:rPr lang="en-US" dirty="0"/>
              <a:t>CT Scan</a:t>
            </a:r>
            <a:endParaRPr lang="en-IN" dirty="0"/>
          </a:p>
        </p:txBody>
      </p:sp>
      <p:sp>
        <p:nvSpPr>
          <p:cNvPr id="15" name="TextBox 14">
            <a:extLst>
              <a:ext uri="{FF2B5EF4-FFF2-40B4-BE49-F238E27FC236}">
                <a16:creationId xmlns:a16="http://schemas.microsoft.com/office/drawing/2014/main" id="{E3E164AE-51C0-3BF1-E1DB-770FD4620AE7}"/>
              </a:ext>
            </a:extLst>
          </p:cNvPr>
          <p:cNvSpPr txBox="1"/>
          <p:nvPr/>
        </p:nvSpPr>
        <p:spPr>
          <a:xfrm>
            <a:off x="8953860" y="739357"/>
            <a:ext cx="1770293" cy="369332"/>
          </a:xfrm>
          <a:prstGeom prst="rect">
            <a:avLst/>
          </a:prstGeom>
          <a:noFill/>
        </p:spPr>
        <p:txBody>
          <a:bodyPr wrap="none" rtlCol="0">
            <a:spAutoFit/>
          </a:bodyPr>
          <a:lstStyle/>
          <a:p>
            <a:r>
              <a:rPr lang="en-US" dirty="0"/>
              <a:t>4 expert graders</a:t>
            </a:r>
            <a:endParaRPr lang="en-IN" dirty="0"/>
          </a:p>
        </p:txBody>
      </p:sp>
      <p:sp>
        <p:nvSpPr>
          <p:cNvPr id="16" name="TextBox 15">
            <a:extLst>
              <a:ext uri="{FF2B5EF4-FFF2-40B4-BE49-F238E27FC236}">
                <a16:creationId xmlns:a16="http://schemas.microsoft.com/office/drawing/2014/main" id="{5BAA5FFE-4600-2B57-1BD7-77A7FE297DA1}"/>
              </a:ext>
            </a:extLst>
          </p:cNvPr>
          <p:cNvSpPr txBox="1"/>
          <p:nvPr/>
        </p:nvSpPr>
        <p:spPr>
          <a:xfrm rot="16200000">
            <a:off x="6127463" y="4012535"/>
            <a:ext cx="1058303" cy="369332"/>
          </a:xfrm>
          <a:prstGeom prst="rect">
            <a:avLst/>
          </a:prstGeom>
          <a:noFill/>
        </p:spPr>
        <p:txBody>
          <a:bodyPr wrap="none" rtlCol="0">
            <a:spAutoFit/>
          </a:bodyPr>
          <a:lstStyle/>
          <a:p>
            <a:r>
              <a:rPr lang="en-US" dirty="0"/>
              <a:t>Samples</a:t>
            </a:r>
            <a:endParaRPr lang="en-IN" dirty="0"/>
          </a:p>
        </p:txBody>
      </p:sp>
      <p:sp>
        <p:nvSpPr>
          <p:cNvPr id="19" name="TextBox 18">
            <a:extLst>
              <a:ext uri="{FF2B5EF4-FFF2-40B4-BE49-F238E27FC236}">
                <a16:creationId xmlns:a16="http://schemas.microsoft.com/office/drawing/2014/main" id="{EB868043-2E34-E29B-E17E-8852EBCD85E5}"/>
              </a:ext>
            </a:extLst>
          </p:cNvPr>
          <p:cNvSpPr txBox="1"/>
          <p:nvPr/>
        </p:nvSpPr>
        <p:spPr>
          <a:xfrm>
            <a:off x="581025" y="6241935"/>
            <a:ext cx="11277600" cy="276999"/>
          </a:xfrm>
          <a:prstGeom prst="rect">
            <a:avLst/>
          </a:prstGeom>
          <a:noFill/>
        </p:spPr>
        <p:txBody>
          <a:bodyPr wrap="square">
            <a:spAutoFit/>
          </a:bodyPr>
          <a:lstStyle>
            <a:defPPr>
              <a:defRPr lang="en-US"/>
            </a:defPPr>
            <a:lvl1pPr>
              <a:defRPr sz="1400" b="0" i="0">
                <a:solidFill>
                  <a:srgbClr val="222222"/>
                </a:solidFill>
                <a:effectLst/>
                <a:latin typeface="Arial" panose="020B0604020202020204" pitchFamily="34" charset="0"/>
              </a:defRPr>
            </a:lvl1pPr>
          </a:lstStyle>
          <a:p>
            <a:r>
              <a:rPr lang="en-IN" sz="1200" dirty="0"/>
              <a:t>Source : Kohl, Simon, et al. "A probabilistic u-net for segmentation of ambiguous images." Advances in neural information processing systems 31 (2018).</a:t>
            </a:r>
          </a:p>
        </p:txBody>
      </p:sp>
    </p:spTree>
    <p:extLst>
      <p:ext uri="{BB962C8B-B14F-4D97-AF65-F5344CB8AC3E}">
        <p14:creationId xmlns:p14="http://schemas.microsoft.com/office/powerpoint/2010/main" val="300991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F60D5-5EFA-5D8C-6367-F26D76A84920}"/>
              </a:ext>
            </a:extLst>
          </p:cNvPr>
          <p:cNvSpPr>
            <a:spLocks noGrp="1"/>
          </p:cNvSpPr>
          <p:nvPr>
            <p:ph type="title"/>
          </p:nvPr>
        </p:nvSpPr>
        <p:spPr/>
        <p:txBody>
          <a:bodyPr/>
          <a:lstStyle/>
          <a:p>
            <a:r>
              <a:rPr lang="en-US" dirty="0"/>
              <a:t>HPU-Net</a:t>
            </a:r>
            <a:endParaRPr lang="en-IN" dirty="0"/>
          </a:p>
        </p:txBody>
      </p:sp>
      <p:pic>
        <p:nvPicPr>
          <p:cNvPr id="5" name="Content Placeholder 4" descr="A diagram of a training program">
            <a:extLst>
              <a:ext uri="{FF2B5EF4-FFF2-40B4-BE49-F238E27FC236}">
                <a16:creationId xmlns:a16="http://schemas.microsoft.com/office/drawing/2014/main" id="{0EA88A1C-74D2-1519-E55B-CEB2455EFE1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26780" y="1825625"/>
            <a:ext cx="10138440" cy="4351338"/>
          </a:xfrm>
        </p:spPr>
      </p:pic>
      <p:sp>
        <p:nvSpPr>
          <p:cNvPr id="4" name="TextBox 3">
            <a:extLst>
              <a:ext uri="{FF2B5EF4-FFF2-40B4-BE49-F238E27FC236}">
                <a16:creationId xmlns:a16="http://schemas.microsoft.com/office/drawing/2014/main" id="{9EEEB412-6F55-FC98-83BD-E05D65E4DD40}"/>
              </a:ext>
            </a:extLst>
          </p:cNvPr>
          <p:cNvSpPr txBox="1"/>
          <p:nvPr/>
        </p:nvSpPr>
        <p:spPr>
          <a:xfrm>
            <a:off x="590550" y="6316991"/>
            <a:ext cx="11287125" cy="276999"/>
          </a:xfrm>
          <a:prstGeom prst="rect">
            <a:avLst/>
          </a:prstGeom>
          <a:noFill/>
        </p:spPr>
        <p:txBody>
          <a:bodyPr wrap="square">
            <a:spAutoFit/>
          </a:bodyPr>
          <a:lstStyle/>
          <a:p>
            <a:r>
              <a:rPr lang="en-IN" sz="1200" b="0" i="0" dirty="0">
                <a:solidFill>
                  <a:srgbClr val="222222"/>
                </a:solidFill>
                <a:effectLst/>
                <a:latin typeface="Arial" panose="020B0604020202020204" pitchFamily="34" charset="0"/>
              </a:rPr>
              <a:t>Source : Kohl, Simon AA, et al. "A hierarchical probabilistic u-net for </a:t>
            </a:r>
            <a:r>
              <a:rPr lang="en-IN" sz="1200" b="0" i="0" dirty="0" err="1">
                <a:solidFill>
                  <a:srgbClr val="222222"/>
                </a:solidFill>
                <a:effectLst/>
                <a:latin typeface="Arial" panose="020B0604020202020204" pitchFamily="34" charset="0"/>
              </a:rPr>
              <a:t>modeling</a:t>
            </a:r>
            <a:r>
              <a:rPr lang="en-IN" sz="1200" b="0" i="0" dirty="0">
                <a:solidFill>
                  <a:srgbClr val="222222"/>
                </a:solidFill>
                <a:effectLst/>
                <a:latin typeface="Arial" panose="020B0604020202020204" pitchFamily="34" charset="0"/>
              </a:rPr>
              <a:t> multi-scale ambiguities." </a:t>
            </a:r>
            <a:r>
              <a:rPr lang="en-IN" sz="1200" b="0" i="1" dirty="0" err="1">
                <a:solidFill>
                  <a:srgbClr val="222222"/>
                </a:solidFill>
                <a:effectLst/>
                <a:latin typeface="Arial" panose="020B0604020202020204" pitchFamily="34" charset="0"/>
              </a:rPr>
              <a:t>arXiv</a:t>
            </a:r>
            <a:r>
              <a:rPr lang="en-IN" sz="1200" b="0" i="1" dirty="0">
                <a:solidFill>
                  <a:srgbClr val="222222"/>
                </a:solidFill>
                <a:effectLst/>
                <a:latin typeface="Arial" panose="020B0604020202020204" pitchFamily="34" charset="0"/>
              </a:rPr>
              <a:t> preprint arXiv:1905.13077</a:t>
            </a:r>
            <a:r>
              <a:rPr lang="en-IN" sz="1200" b="0" i="0" dirty="0">
                <a:solidFill>
                  <a:srgbClr val="222222"/>
                </a:solidFill>
                <a:effectLst/>
                <a:latin typeface="Arial" panose="020B0604020202020204" pitchFamily="34" charset="0"/>
              </a:rPr>
              <a:t> (2019).</a:t>
            </a:r>
            <a:endParaRPr lang="en-IN" sz="1200" dirty="0"/>
          </a:p>
        </p:txBody>
      </p:sp>
    </p:spTree>
    <p:extLst>
      <p:ext uri="{BB962C8B-B14F-4D97-AF65-F5344CB8AC3E}">
        <p14:creationId xmlns:p14="http://schemas.microsoft.com/office/powerpoint/2010/main" val="2481682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7774B-5A4F-29DF-5B2F-61BCC531B4DF}"/>
              </a:ext>
            </a:extLst>
          </p:cNvPr>
          <p:cNvSpPr>
            <a:spLocks noGrp="1"/>
          </p:cNvSpPr>
          <p:nvPr>
            <p:ph type="title"/>
          </p:nvPr>
        </p:nvSpPr>
        <p:spPr/>
        <p:txBody>
          <a:bodyPr/>
          <a:lstStyle/>
          <a:p>
            <a:r>
              <a:rPr lang="en-US" dirty="0"/>
              <a:t>Training Parameters</a:t>
            </a:r>
            <a:endParaRPr lang="en-IN" dirty="0"/>
          </a:p>
        </p:txBody>
      </p:sp>
      <mc:AlternateContent xmlns:mc="http://schemas.openxmlformats.org/markup-compatibility/2006">
        <mc:Choice xmlns:a14="http://schemas.microsoft.com/office/drawing/2010/main" Requires="a14">
          <p:graphicFrame>
            <p:nvGraphicFramePr>
              <p:cNvPr id="4" name="Content Placeholder 3">
                <a:extLst>
                  <a:ext uri="{FF2B5EF4-FFF2-40B4-BE49-F238E27FC236}">
                    <a16:creationId xmlns:a16="http://schemas.microsoft.com/office/drawing/2014/main" id="{2FF64C64-C61E-B990-213C-6138B32307A4}"/>
                  </a:ext>
                </a:extLst>
              </p:cNvPr>
              <p:cNvGraphicFramePr>
                <a:graphicFrameLocks noGrp="1"/>
              </p:cNvGraphicFramePr>
              <p:nvPr>
                <p:ph idx="1"/>
                <p:extLst>
                  <p:ext uri="{D42A27DB-BD31-4B8C-83A1-F6EECF244321}">
                    <p14:modId xmlns:p14="http://schemas.microsoft.com/office/powerpoint/2010/main" val="3572035901"/>
                  </p:ext>
                </p:extLst>
              </p:nvPr>
            </p:nvGraphicFramePr>
            <p:xfrm>
              <a:off x="1130301" y="1654835"/>
              <a:ext cx="9931398" cy="3510280"/>
            </p:xfrm>
            <a:graphic>
              <a:graphicData uri="http://schemas.openxmlformats.org/drawingml/2006/table">
                <a:tbl>
                  <a:tblPr firstRow="1" bandRow="1">
                    <a:tableStyleId>{69012ECD-51FC-41F1-AA8D-1B2483CD663E}</a:tableStyleId>
                  </a:tblPr>
                  <a:tblGrid>
                    <a:gridCol w="2201478">
                      <a:extLst>
                        <a:ext uri="{9D8B030D-6E8A-4147-A177-3AD203B41FA5}">
                          <a16:colId xmlns:a16="http://schemas.microsoft.com/office/drawing/2014/main" val="2775635475"/>
                        </a:ext>
                      </a:extLst>
                    </a:gridCol>
                    <a:gridCol w="4046483">
                      <a:extLst>
                        <a:ext uri="{9D8B030D-6E8A-4147-A177-3AD203B41FA5}">
                          <a16:colId xmlns:a16="http://schemas.microsoft.com/office/drawing/2014/main" val="1582814035"/>
                        </a:ext>
                      </a:extLst>
                    </a:gridCol>
                    <a:gridCol w="3683437">
                      <a:extLst>
                        <a:ext uri="{9D8B030D-6E8A-4147-A177-3AD203B41FA5}">
                          <a16:colId xmlns:a16="http://schemas.microsoft.com/office/drawing/2014/main" val="3748860932"/>
                        </a:ext>
                      </a:extLst>
                    </a:gridCol>
                  </a:tblGrid>
                  <a:tr h="370840">
                    <a:tc>
                      <a:txBody>
                        <a:bodyPr/>
                        <a:lstStyle/>
                        <a:p>
                          <a:pPr algn="l"/>
                          <a:r>
                            <a:rPr lang="en-US" dirty="0"/>
                            <a:t>Parameter</a:t>
                          </a:r>
                          <a:endParaRPr lang="en-IN" dirty="0"/>
                        </a:p>
                      </a:txBody>
                      <a:tcPr/>
                    </a:tc>
                    <a:tc>
                      <a:txBody>
                        <a:bodyPr/>
                        <a:lstStyle/>
                        <a:p>
                          <a:pPr algn="l"/>
                          <a:r>
                            <a:rPr lang="en-US" dirty="0"/>
                            <a:t>HPU-Net</a:t>
                          </a:r>
                          <a:endParaRPr lang="en-IN" dirty="0"/>
                        </a:p>
                      </a:txBody>
                      <a:tcPr/>
                    </a:tc>
                    <a:tc>
                      <a:txBody>
                        <a:bodyPr/>
                        <a:lstStyle/>
                        <a:p>
                          <a:pPr algn="l"/>
                          <a:r>
                            <a:rPr lang="en-US" dirty="0" err="1"/>
                            <a:t>sPU</a:t>
                          </a:r>
                          <a:r>
                            <a:rPr lang="en-US" dirty="0"/>
                            <a:t>-Net</a:t>
                          </a:r>
                          <a:endParaRPr lang="en-IN" dirty="0"/>
                        </a:p>
                      </a:txBody>
                      <a:tcPr/>
                    </a:tc>
                    <a:extLst>
                      <a:ext uri="{0D108BD9-81ED-4DB2-BD59-A6C34878D82A}">
                        <a16:rowId xmlns:a16="http://schemas.microsoft.com/office/drawing/2014/main" val="2174581870"/>
                      </a:ext>
                    </a:extLst>
                  </a:tr>
                  <a:tr h="370840">
                    <a:tc>
                      <a:txBody>
                        <a:bodyPr/>
                        <a:lstStyle/>
                        <a:p>
                          <a:pPr algn="l"/>
                          <a:r>
                            <a:rPr lang="en-US" dirty="0"/>
                            <a:t>Batch size</a:t>
                          </a:r>
                          <a:endParaRPr lang="en-IN" dirty="0"/>
                        </a:p>
                      </a:txBody>
                      <a:tcPr/>
                    </a:tc>
                    <a:tc>
                      <a:txBody>
                        <a:bodyPr/>
                        <a:lstStyle/>
                        <a:p>
                          <a:pPr algn="l"/>
                          <a:r>
                            <a:rPr lang="en-US" dirty="0"/>
                            <a:t>32</a:t>
                          </a:r>
                          <a:endParaRPr lang="en-IN" dirty="0"/>
                        </a:p>
                      </a:txBody>
                      <a:tcPr/>
                    </a:tc>
                    <a:tc>
                      <a:txBody>
                        <a:bodyPr/>
                        <a:lstStyle/>
                        <a:p>
                          <a:pPr algn="l"/>
                          <a:r>
                            <a:rPr lang="en-US" dirty="0"/>
                            <a:t>32</a:t>
                          </a:r>
                          <a:endParaRPr lang="en-IN" dirty="0"/>
                        </a:p>
                      </a:txBody>
                      <a:tcPr/>
                    </a:tc>
                    <a:extLst>
                      <a:ext uri="{0D108BD9-81ED-4DB2-BD59-A6C34878D82A}">
                        <a16:rowId xmlns:a16="http://schemas.microsoft.com/office/drawing/2014/main" val="1338049406"/>
                      </a:ext>
                    </a:extLst>
                  </a:tr>
                  <a:tr h="370840">
                    <a:tc>
                      <a:txBody>
                        <a:bodyPr/>
                        <a:lstStyle/>
                        <a:p>
                          <a:pPr algn="l"/>
                          <a:r>
                            <a:rPr lang="en-US" dirty="0"/>
                            <a:t>Steps</a:t>
                          </a:r>
                          <a:endParaRPr lang="en-IN" dirty="0"/>
                        </a:p>
                      </a:txBody>
                      <a:tcPr/>
                    </a:tc>
                    <a:tc>
                      <a:txBody>
                        <a:bodyPr/>
                        <a:lstStyle/>
                        <a:p>
                          <a:pPr algn="l"/>
                          <a:r>
                            <a:rPr lang="en-US" dirty="0"/>
                            <a:t>240,000 iterations</a:t>
                          </a:r>
                          <a:endParaRPr lang="en-IN" dirty="0"/>
                        </a:p>
                      </a:txBody>
                      <a:tcPr/>
                    </a:tc>
                    <a:tc>
                      <a:txBody>
                        <a:bodyPr/>
                        <a:lstStyle/>
                        <a:p>
                          <a:pPr algn="l"/>
                          <a:r>
                            <a:rPr lang="en-US" dirty="0"/>
                            <a:t>240,000 iterations</a:t>
                          </a:r>
                          <a:endParaRPr lang="en-IN" dirty="0"/>
                        </a:p>
                      </a:txBody>
                      <a:tcPr/>
                    </a:tc>
                    <a:extLst>
                      <a:ext uri="{0D108BD9-81ED-4DB2-BD59-A6C34878D82A}">
                        <a16:rowId xmlns:a16="http://schemas.microsoft.com/office/drawing/2014/main" val="1808851890"/>
                      </a:ext>
                    </a:extLst>
                  </a:tr>
                  <a:tr h="370840">
                    <a:tc>
                      <a:txBody>
                        <a:bodyPr/>
                        <a:lstStyle/>
                        <a:p>
                          <a:pPr algn="l"/>
                          <a:r>
                            <a:rPr lang="en-US" dirty="0"/>
                            <a:t>Training Objective</a:t>
                          </a:r>
                          <a:endParaRPr lang="en-IN" dirty="0"/>
                        </a:p>
                      </a:txBody>
                      <a:tcPr/>
                    </a:tc>
                    <a:tc>
                      <a:txBody>
                        <a:bodyPr/>
                        <a:lstStyle/>
                        <a:p>
                          <a:pPr algn="l"/>
                          <a:r>
                            <a:rPr lang="en-US" dirty="0"/>
                            <a:t>GECO</a:t>
                          </a:r>
                          <a:endParaRPr lang="en-IN" dirty="0"/>
                        </a:p>
                      </a:txBody>
                      <a:tcPr/>
                    </a:tc>
                    <a:tc>
                      <a:txBody>
                        <a:bodyPr/>
                        <a:lstStyle/>
                        <a:p>
                          <a:pPr algn="l"/>
                          <a:r>
                            <a:rPr lang="en-US" dirty="0"/>
                            <a:t>ELBO</a:t>
                          </a:r>
                          <a:endParaRPr lang="en-IN" dirty="0"/>
                        </a:p>
                      </a:txBody>
                      <a:tcPr/>
                    </a:tc>
                    <a:extLst>
                      <a:ext uri="{0D108BD9-81ED-4DB2-BD59-A6C34878D82A}">
                        <a16:rowId xmlns:a16="http://schemas.microsoft.com/office/drawing/2014/main" val="2400707328"/>
                      </a:ext>
                    </a:extLst>
                  </a:tr>
                  <a:tr h="370840">
                    <a:tc>
                      <a:txBody>
                        <a:bodyPr/>
                        <a:lstStyle/>
                        <a:p>
                          <a:pPr algn="l"/>
                          <a:r>
                            <a:rPr lang="en-US" dirty="0"/>
                            <a:t>Reconstruction loss</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Stochastic top-k Binary cross entropy</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Binary cross entropy</a:t>
                          </a:r>
                          <a:endParaRPr lang="en-IN" dirty="0"/>
                        </a:p>
                      </a:txBody>
                      <a:tcPr/>
                    </a:tc>
                    <a:extLst>
                      <a:ext uri="{0D108BD9-81ED-4DB2-BD59-A6C34878D82A}">
                        <a16:rowId xmlns:a16="http://schemas.microsoft.com/office/drawing/2014/main" val="1489465114"/>
                      </a:ext>
                    </a:extLst>
                  </a:tr>
                  <a:tr h="370840">
                    <a:tc>
                      <a:txBody>
                        <a:bodyPr/>
                        <a:lstStyle/>
                        <a:p>
                          <a:pPr algn="l"/>
                          <a:r>
                            <a:rPr lang="en-US" dirty="0"/>
                            <a:t>Optimizer</a:t>
                          </a:r>
                          <a:endParaRPr lang="en-IN" dirty="0"/>
                        </a:p>
                      </a:txBody>
                      <a:tcPr/>
                    </a:tc>
                    <a:tc>
                      <a:txBody>
                        <a:bodyPr/>
                        <a:lstStyle/>
                        <a:p>
                          <a:pPr algn="l"/>
                          <a:r>
                            <a:rPr lang="en-US" dirty="0"/>
                            <a:t>Adam with weight decay </a:t>
                          </a:r>
                          <a:r>
                            <a:rPr lang="en-US" sz="1800" dirty="0"/>
                            <a:t>1 × </a:t>
                          </a:r>
                          <a14:m>
                            <m:oMath xmlns:m="http://schemas.openxmlformats.org/officeDocument/2006/math">
                              <m:sSup>
                                <m:sSupPr>
                                  <m:ctrlPr>
                                    <a:rPr lang="en-US" sz="1800" i="1" smtClean="0">
                                      <a:latin typeface="Cambria Math" panose="02040503050406030204" pitchFamily="18" charset="0"/>
                                    </a:rPr>
                                  </m:ctrlPr>
                                </m:sSupPr>
                                <m:e>
                                  <m:r>
                                    <a:rPr lang="en-US" sz="1800" b="0" smtClean="0">
                                      <a:latin typeface="Cambria Math" panose="02040503050406030204" pitchFamily="18" charset="0"/>
                                    </a:rPr>
                                    <m:t>10</m:t>
                                  </m:r>
                                </m:e>
                                <m:sup>
                                  <m:r>
                                    <a:rPr lang="en-US" sz="1800" b="0" smtClean="0">
                                      <a:latin typeface="Cambria Math" panose="02040503050406030204" pitchFamily="18" charset="0"/>
                                    </a:rPr>
                                    <m:t>−5</m:t>
                                  </m:r>
                                </m:sup>
                              </m:sSup>
                            </m:oMath>
                          </a14:m>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Adam with weight decay </a:t>
                          </a:r>
                          <a:r>
                            <a:rPr lang="en-US" sz="1800" dirty="0"/>
                            <a:t>1 × </a:t>
                          </a:r>
                          <a14:m>
                            <m:oMath xmlns:m="http://schemas.openxmlformats.org/officeDocument/2006/math">
                              <m:sSup>
                                <m:sSupPr>
                                  <m:ctrlPr>
                                    <a:rPr lang="en-US" sz="1800" i="1" smtClean="0">
                                      <a:latin typeface="Cambria Math" panose="02040503050406030204" pitchFamily="18" charset="0"/>
                                    </a:rPr>
                                  </m:ctrlPr>
                                </m:sSupPr>
                                <m:e>
                                  <m:r>
                                    <a:rPr lang="en-US" sz="1800" b="0" smtClean="0">
                                      <a:latin typeface="Cambria Math" panose="02040503050406030204" pitchFamily="18" charset="0"/>
                                    </a:rPr>
                                    <m:t>10</m:t>
                                  </m:r>
                                </m:e>
                                <m:sup>
                                  <m:r>
                                    <a:rPr lang="en-US" sz="1800" b="0" smtClean="0">
                                      <a:latin typeface="Cambria Math" panose="02040503050406030204" pitchFamily="18" charset="0"/>
                                    </a:rPr>
                                    <m:t>−5</m:t>
                                  </m:r>
                                </m:sup>
                              </m:sSup>
                            </m:oMath>
                          </a14:m>
                          <a:endParaRPr lang="en-IN" dirty="0"/>
                        </a:p>
                      </a:txBody>
                      <a:tcPr/>
                    </a:tc>
                    <a:extLst>
                      <a:ext uri="{0D108BD9-81ED-4DB2-BD59-A6C34878D82A}">
                        <a16:rowId xmlns:a16="http://schemas.microsoft.com/office/drawing/2014/main" val="3450264510"/>
                      </a:ext>
                    </a:extLst>
                  </a:tr>
                  <a:tr h="370840">
                    <a:tc>
                      <a:txBody>
                        <a:bodyPr/>
                        <a:lstStyle/>
                        <a:p>
                          <a:pPr algn="l"/>
                          <a:r>
                            <a:rPr lang="en-US" dirty="0"/>
                            <a:t>Learning rate</a:t>
                          </a:r>
                          <a:endParaRPr lang="en-IN" dirty="0"/>
                        </a:p>
                      </a:txBody>
                      <a:tcPr/>
                    </a:tc>
                    <a:tc>
                      <a:txBody>
                        <a:bodyPr/>
                        <a:lstStyle/>
                        <a:p>
                          <a:pPr algn="l"/>
                          <a:r>
                            <a:rPr lang="en-US" sz="1800" dirty="0"/>
                            <a:t>1 × </a:t>
                          </a:r>
                          <a14:m>
                            <m:oMath xmlns:m="http://schemas.openxmlformats.org/officeDocument/2006/math">
                              <m:sSup>
                                <m:sSupPr>
                                  <m:ctrlPr>
                                    <a:rPr lang="en-US" sz="1800" i="1" smtClean="0">
                                      <a:latin typeface="Cambria Math" panose="02040503050406030204" pitchFamily="18" charset="0"/>
                                    </a:rPr>
                                  </m:ctrlPr>
                                </m:sSupPr>
                                <m:e>
                                  <m:r>
                                    <a:rPr lang="en-US" sz="1800" b="0" smtClean="0">
                                      <a:latin typeface="Cambria Math" panose="02040503050406030204" pitchFamily="18" charset="0"/>
                                    </a:rPr>
                                    <m:t>10</m:t>
                                  </m:r>
                                </m:e>
                                <m:sup>
                                  <m:r>
                                    <a:rPr lang="en-US" sz="1800" b="0" smtClean="0">
                                      <a:latin typeface="Cambria Math" panose="02040503050406030204" pitchFamily="18" charset="0"/>
                                    </a:rPr>
                                    <m:t>−4</m:t>
                                  </m:r>
                                </m:sup>
                              </m:sSup>
                            </m:oMath>
                          </a14:m>
                          <a:r>
                            <a:rPr lang="en-IN" dirty="0"/>
                            <a:t>, reduced in steps</a:t>
                          </a:r>
                        </a:p>
                      </a:txBody>
                      <a:tcPr/>
                    </a:tc>
                    <a:tc>
                      <a:txBody>
                        <a:bodyPr/>
                        <a:lstStyle/>
                        <a:p>
                          <a:pPr algn="l"/>
                          <a:r>
                            <a:rPr lang="en-US" sz="1800" dirty="0"/>
                            <a:t>1 × </a:t>
                          </a:r>
                          <a14:m>
                            <m:oMath xmlns:m="http://schemas.openxmlformats.org/officeDocument/2006/math">
                              <m:sSup>
                                <m:sSupPr>
                                  <m:ctrlPr>
                                    <a:rPr lang="en-US" sz="1800" i="1" smtClean="0">
                                      <a:latin typeface="Cambria Math" panose="02040503050406030204" pitchFamily="18" charset="0"/>
                                    </a:rPr>
                                  </m:ctrlPr>
                                </m:sSupPr>
                                <m:e>
                                  <m:r>
                                    <a:rPr lang="en-US" sz="1800" b="0" smtClean="0">
                                      <a:latin typeface="Cambria Math" panose="02040503050406030204" pitchFamily="18" charset="0"/>
                                    </a:rPr>
                                    <m:t>10</m:t>
                                  </m:r>
                                </m:e>
                                <m:sup>
                                  <m:r>
                                    <a:rPr lang="en-US" sz="1800" b="0" smtClean="0">
                                      <a:latin typeface="Cambria Math" panose="02040503050406030204" pitchFamily="18" charset="0"/>
                                    </a:rPr>
                                    <m:t>−4</m:t>
                                  </m:r>
                                </m:sup>
                              </m:sSup>
                            </m:oMath>
                          </a14:m>
                          <a:r>
                            <a:rPr lang="en-IN" dirty="0"/>
                            <a:t>, reduced in steps</a:t>
                          </a:r>
                        </a:p>
                      </a:txBody>
                      <a:tcPr/>
                    </a:tc>
                    <a:extLst>
                      <a:ext uri="{0D108BD9-81ED-4DB2-BD59-A6C34878D82A}">
                        <a16:rowId xmlns:a16="http://schemas.microsoft.com/office/drawing/2014/main" val="3639943671"/>
                      </a:ext>
                    </a:extLst>
                  </a:tr>
                  <a:tr h="370840">
                    <a:tc>
                      <a:txBody>
                        <a:bodyPr/>
                        <a:lstStyle/>
                        <a:p>
                          <a:pPr algn="l"/>
                          <a:r>
                            <a:rPr lang="en-US" dirty="0"/>
                            <a:t>Initialization</a:t>
                          </a:r>
                          <a:endParaRPr lang="en-IN" dirty="0"/>
                        </a:p>
                      </a:txBody>
                      <a:tcPr/>
                    </a:tc>
                    <a:tc>
                      <a:txBody>
                        <a:bodyPr/>
                        <a:lstStyle/>
                        <a:p>
                          <a:pPr algn="l"/>
                          <a:r>
                            <a:rPr lang="en-US" dirty="0"/>
                            <a:t>Weight: Orthogonal with gain=1</a:t>
                          </a:r>
                          <a:br>
                            <a:rPr lang="en-US" dirty="0"/>
                          </a:br>
                          <a:r>
                            <a:rPr lang="en-US" dirty="0"/>
                            <a:t>Bias: normal distribution with </a:t>
                          </a:r>
                          <a:r>
                            <a:rPr lang="el-GR" sz="1800" b="0" i="0" u="none" strike="noStrike" kern="1200" baseline="0" dirty="0">
                              <a:solidFill>
                                <a:schemeClr val="tx1"/>
                              </a:solidFill>
                              <a:latin typeface="+mn-lt"/>
                              <a:ea typeface="+mn-ea"/>
                              <a:cs typeface="+mn-cs"/>
                            </a:rPr>
                            <a:t>σ</a:t>
                          </a:r>
                          <a:r>
                            <a:rPr lang="en-US" dirty="0"/>
                            <a:t>=</a:t>
                          </a:r>
                          <a14:m>
                            <m:oMath xmlns:m="http://schemas.openxmlformats.org/officeDocument/2006/math">
                              <m:sSup>
                                <m:sSupPr>
                                  <m:ctrlPr>
                                    <a:rPr lang="en-US" sz="1800" i="1" smtClean="0">
                                      <a:latin typeface="Cambria Math" panose="02040503050406030204" pitchFamily="18" charset="0"/>
                                    </a:rPr>
                                  </m:ctrlPr>
                                </m:sSupPr>
                                <m:e>
                                  <m:r>
                                    <a:rPr lang="en-US" sz="1800" b="0" smtClean="0">
                                      <a:latin typeface="Cambria Math" panose="02040503050406030204" pitchFamily="18" charset="0"/>
                                    </a:rPr>
                                    <m:t>10</m:t>
                                  </m:r>
                                </m:e>
                                <m:sup>
                                  <m:r>
                                    <a:rPr lang="en-US" sz="1800" b="0" smtClean="0">
                                      <a:latin typeface="Cambria Math" panose="02040503050406030204" pitchFamily="18" charset="0"/>
                                    </a:rPr>
                                    <m:t>−</m:t>
                                  </m:r>
                                  <m:r>
                                    <a:rPr lang="en-US" sz="1800" b="0" i="1" smtClean="0">
                                      <a:latin typeface="Cambria Math" panose="02040503050406030204" pitchFamily="18" charset="0"/>
                                    </a:rPr>
                                    <m:t>3</m:t>
                                  </m:r>
                                </m:sup>
                              </m:sSup>
                            </m:oMath>
                          </a14:m>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Weight: Orthogonal with gain=1</a:t>
                          </a:r>
                          <a:br>
                            <a:rPr lang="en-US" dirty="0"/>
                          </a:br>
                          <a:r>
                            <a:rPr lang="en-US" dirty="0"/>
                            <a:t>Bias: Truncated normal with </a:t>
                          </a:r>
                          <a:r>
                            <a:rPr lang="el-GR" sz="1800" b="0" i="0" u="none" strike="noStrike" kern="1200" baseline="0" dirty="0">
                              <a:solidFill>
                                <a:schemeClr val="tx1"/>
                              </a:solidFill>
                              <a:latin typeface="+mn-lt"/>
                              <a:ea typeface="+mn-ea"/>
                              <a:cs typeface="+mn-cs"/>
                            </a:rPr>
                            <a:t>σ</a:t>
                          </a:r>
                          <a:r>
                            <a:rPr lang="en-US" dirty="0"/>
                            <a:t>=</a:t>
                          </a:r>
                          <a14:m>
                            <m:oMath xmlns:m="http://schemas.openxmlformats.org/officeDocument/2006/math">
                              <m:sSup>
                                <m:sSupPr>
                                  <m:ctrlPr>
                                    <a:rPr lang="en-US" sz="1800" i="1" smtClean="0">
                                      <a:latin typeface="Cambria Math" panose="02040503050406030204" pitchFamily="18" charset="0"/>
                                    </a:rPr>
                                  </m:ctrlPr>
                                </m:sSupPr>
                                <m:e>
                                  <m:r>
                                    <a:rPr lang="en-US" sz="1800" b="0" smtClean="0">
                                      <a:latin typeface="Cambria Math" panose="02040503050406030204" pitchFamily="18" charset="0"/>
                                    </a:rPr>
                                    <m:t>10</m:t>
                                  </m:r>
                                </m:e>
                                <m:sup>
                                  <m:r>
                                    <a:rPr lang="en-US" sz="1800" b="0" smtClean="0">
                                      <a:latin typeface="Cambria Math" panose="02040503050406030204" pitchFamily="18" charset="0"/>
                                    </a:rPr>
                                    <m:t>−</m:t>
                                  </m:r>
                                  <m:r>
                                    <a:rPr lang="en-US" sz="1800" b="0" i="1" smtClean="0">
                                      <a:latin typeface="Cambria Math" panose="02040503050406030204" pitchFamily="18" charset="0"/>
                                    </a:rPr>
                                    <m:t>3</m:t>
                                  </m:r>
                                </m:sup>
                              </m:sSup>
                            </m:oMath>
                          </a14:m>
                          <a:endParaRPr lang="en-IN" dirty="0"/>
                        </a:p>
                      </a:txBody>
                      <a:tcPr/>
                    </a:tc>
                    <a:extLst>
                      <a:ext uri="{0D108BD9-81ED-4DB2-BD59-A6C34878D82A}">
                        <a16:rowId xmlns:a16="http://schemas.microsoft.com/office/drawing/2014/main" val="1414397725"/>
                      </a:ext>
                    </a:extLst>
                  </a:tr>
                </a:tbl>
              </a:graphicData>
            </a:graphic>
          </p:graphicFrame>
        </mc:Choice>
        <mc:Fallback>
          <p:graphicFrame>
            <p:nvGraphicFramePr>
              <p:cNvPr id="4" name="Content Placeholder 3">
                <a:extLst>
                  <a:ext uri="{FF2B5EF4-FFF2-40B4-BE49-F238E27FC236}">
                    <a16:creationId xmlns:a16="http://schemas.microsoft.com/office/drawing/2014/main" id="{2FF64C64-C61E-B990-213C-6138B32307A4}"/>
                  </a:ext>
                </a:extLst>
              </p:cNvPr>
              <p:cNvGraphicFramePr>
                <a:graphicFrameLocks noGrp="1"/>
              </p:cNvGraphicFramePr>
              <p:nvPr>
                <p:ph idx="1"/>
                <p:extLst>
                  <p:ext uri="{D42A27DB-BD31-4B8C-83A1-F6EECF244321}">
                    <p14:modId xmlns:p14="http://schemas.microsoft.com/office/powerpoint/2010/main" val="3572035901"/>
                  </p:ext>
                </p:extLst>
              </p:nvPr>
            </p:nvGraphicFramePr>
            <p:xfrm>
              <a:off x="1130301" y="1654835"/>
              <a:ext cx="9931398" cy="3510280"/>
            </p:xfrm>
            <a:graphic>
              <a:graphicData uri="http://schemas.openxmlformats.org/drawingml/2006/table">
                <a:tbl>
                  <a:tblPr firstRow="1" bandRow="1">
                    <a:tableStyleId>{69012ECD-51FC-41F1-AA8D-1B2483CD663E}</a:tableStyleId>
                  </a:tblPr>
                  <a:tblGrid>
                    <a:gridCol w="2201478">
                      <a:extLst>
                        <a:ext uri="{9D8B030D-6E8A-4147-A177-3AD203B41FA5}">
                          <a16:colId xmlns:a16="http://schemas.microsoft.com/office/drawing/2014/main" val="2775635475"/>
                        </a:ext>
                      </a:extLst>
                    </a:gridCol>
                    <a:gridCol w="4046483">
                      <a:extLst>
                        <a:ext uri="{9D8B030D-6E8A-4147-A177-3AD203B41FA5}">
                          <a16:colId xmlns:a16="http://schemas.microsoft.com/office/drawing/2014/main" val="1582814035"/>
                        </a:ext>
                      </a:extLst>
                    </a:gridCol>
                    <a:gridCol w="3683437">
                      <a:extLst>
                        <a:ext uri="{9D8B030D-6E8A-4147-A177-3AD203B41FA5}">
                          <a16:colId xmlns:a16="http://schemas.microsoft.com/office/drawing/2014/main" val="3748860932"/>
                        </a:ext>
                      </a:extLst>
                    </a:gridCol>
                  </a:tblGrid>
                  <a:tr h="370840">
                    <a:tc>
                      <a:txBody>
                        <a:bodyPr/>
                        <a:lstStyle/>
                        <a:p>
                          <a:pPr algn="l"/>
                          <a:r>
                            <a:rPr lang="en-US" dirty="0"/>
                            <a:t>Parameter</a:t>
                          </a:r>
                          <a:endParaRPr lang="en-IN" dirty="0"/>
                        </a:p>
                      </a:txBody>
                      <a:tcPr/>
                    </a:tc>
                    <a:tc>
                      <a:txBody>
                        <a:bodyPr/>
                        <a:lstStyle/>
                        <a:p>
                          <a:pPr algn="l"/>
                          <a:r>
                            <a:rPr lang="en-US" dirty="0"/>
                            <a:t>HPU-Net</a:t>
                          </a:r>
                          <a:endParaRPr lang="en-IN" dirty="0"/>
                        </a:p>
                      </a:txBody>
                      <a:tcPr/>
                    </a:tc>
                    <a:tc>
                      <a:txBody>
                        <a:bodyPr/>
                        <a:lstStyle/>
                        <a:p>
                          <a:pPr algn="l"/>
                          <a:r>
                            <a:rPr lang="en-US" dirty="0" err="1"/>
                            <a:t>sPU</a:t>
                          </a:r>
                          <a:r>
                            <a:rPr lang="en-US" dirty="0"/>
                            <a:t>-Net</a:t>
                          </a:r>
                          <a:endParaRPr lang="en-IN" dirty="0"/>
                        </a:p>
                      </a:txBody>
                      <a:tcPr/>
                    </a:tc>
                    <a:extLst>
                      <a:ext uri="{0D108BD9-81ED-4DB2-BD59-A6C34878D82A}">
                        <a16:rowId xmlns:a16="http://schemas.microsoft.com/office/drawing/2014/main" val="2174581870"/>
                      </a:ext>
                    </a:extLst>
                  </a:tr>
                  <a:tr h="370840">
                    <a:tc>
                      <a:txBody>
                        <a:bodyPr/>
                        <a:lstStyle/>
                        <a:p>
                          <a:pPr algn="l"/>
                          <a:r>
                            <a:rPr lang="en-US" dirty="0"/>
                            <a:t>Batch size</a:t>
                          </a:r>
                          <a:endParaRPr lang="en-IN" dirty="0"/>
                        </a:p>
                      </a:txBody>
                      <a:tcPr/>
                    </a:tc>
                    <a:tc>
                      <a:txBody>
                        <a:bodyPr/>
                        <a:lstStyle/>
                        <a:p>
                          <a:pPr algn="l"/>
                          <a:r>
                            <a:rPr lang="en-US" dirty="0"/>
                            <a:t>32</a:t>
                          </a:r>
                          <a:endParaRPr lang="en-IN" dirty="0"/>
                        </a:p>
                      </a:txBody>
                      <a:tcPr/>
                    </a:tc>
                    <a:tc>
                      <a:txBody>
                        <a:bodyPr/>
                        <a:lstStyle/>
                        <a:p>
                          <a:pPr algn="l"/>
                          <a:r>
                            <a:rPr lang="en-US" dirty="0"/>
                            <a:t>32</a:t>
                          </a:r>
                          <a:endParaRPr lang="en-IN" dirty="0"/>
                        </a:p>
                      </a:txBody>
                      <a:tcPr/>
                    </a:tc>
                    <a:extLst>
                      <a:ext uri="{0D108BD9-81ED-4DB2-BD59-A6C34878D82A}">
                        <a16:rowId xmlns:a16="http://schemas.microsoft.com/office/drawing/2014/main" val="1338049406"/>
                      </a:ext>
                    </a:extLst>
                  </a:tr>
                  <a:tr h="370840">
                    <a:tc>
                      <a:txBody>
                        <a:bodyPr/>
                        <a:lstStyle/>
                        <a:p>
                          <a:pPr algn="l"/>
                          <a:r>
                            <a:rPr lang="en-US" dirty="0"/>
                            <a:t>Steps</a:t>
                          </a:r>
                          <a:endParaRPr lang="en-IN" dirty="0"/>
                        </a:p>
                      </a:txBody>
                      <a:tcPr/>
                    </a:tc>
                    <a:tc>
                      <a:txBody>
                        <a:bodyPr/>
                        <a:lstStyle/>
                        <a:p>
                          <a:pPr algn="l"/>
                          <a:r>
                            <a:rPr lang="en-US" dirty="0"/>
                            <a:t>240,000 iterations</a:t>
                          </a:r>
                          <a:endParaRPr lang="en-IN" dirty="0"/>
                        </a:p>
                      </a:txBody>
                      <a:tcPr/>
                    </a:tc>
                    <a:tc>
                      <a:txBody>
                        <a:bodyPr/>
                        <a:lstStyle/>
                        <a:p>
                          <a:pPr algn="l"/>
                          <a:r>
                            <a:rPr lang="en-US" dirty="0"/>
                            <a:t>240,000 iterations</a:t>
                          </a:r>
                          <a:endParaRPr lang="en-IN" dirty="0"/>
                        </a:p>
                      </a:txBody>
                      <a:tcPr/>
                    </a:tc>
                    <a:extLst>
                      <a:ext uri="{0D108BD9-81ED-4DB2-BD59-A6C34878D82A}">
                        <a16:rowId xmlns:a16="http://schemas.microsoft.com/office/drawing/2014/main" val="1808851890"/>
                      </a:ext>
                    </a:extLst>
                  </a:tr>
                  <a:tr h="370840">
                    <a:tc>
                      <a:txBody>
                        <a:bodyPr/>
                        <a:lstStyle/>
                        <a:p>
                          <a:pPr algn="l"/>
                          <a:r>
                            <a:rPr lang="en-US" dirty="0"/>
                            <a:t>Training Objective</a:t>
                          </a:r>
                          <a:endParaRPr lang="en-IN" dirty="0"/>
                        </a:p>
                      </a:txBody>
                      <a:tcPr/>
                    </a:tc>
                    <a:tc>
                      <a:txBody>
                        <a:bodyPr/>
                        <a:lstStyle/>
                        <a:p>
                          <a:pPr algn="l"/>
                          <a:r>
                            <a:rPr lang="en-US" dirty="0"/>
                            <a:t>GECO</a:t>
                          </a:r>
                          <a:endParaRPr lang="en-IN" dirty="0"/>
                        </a:p>
                      </a:txBody>
                      <a:tcPr/>
                    </a:tc>
                    <a:tc>
                      <a:txBody>
                        <a:bodyPr/>
                        <a:lstStyle/>
                        <a:p>
                          <a:pPr algn="l"/>
                          <a:r>
                            <a:rPr lang="en-US" dirty="0"/>
                            <a:t>ELBO</a:t>
                          </a:r>
                          <a:endParaRPr lang="en-IN" dirty="0"/>
                        </a:p>
                      </a:txBody>
                      <a:tcPr/>
                    </a:tc>
                    <a:extLst>
                      <a:ext uri="{0D108BD9-81ED-4DB2-BD59-A6C34878D82A}">
                        <a16:rowId xmlns:a16="http://schemas.microsoft.com/office/drawing/2014/main" val="2400707328"/>
                      </a:ext>
                    </a:extLst>
                  </a:tr>
                  <a:tr h="370840">
                    <a:tc>
                      <a:txBody>
                        <a:bodyPr/>
                        <a:lstStyle/>
                        <a:p>
                          <a:pPr algn="l"/>
                          <a:r>
                            <a:rPr lang="en-US" dirty="0"/>
                            <a:t>Reconstruction loss</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Stochastic top-k Binary cross entropy</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Binary cross entropy</a:t>
                          </a:r>
                          <a:endParaRPr lang="en-IN" dirty="0"/>
                        </a:p>
                      </a:txBody>
                      <a:tcPr/>
                    </a:tc>
                    <a:extLst>
                      <a:ext uri="{0D108BD9-81ED-4DB2-BD59-A6C34878D82A}">
                        <a16:rowId xmlns:a16="http://schemas.microsoft.com/office/drawing/2014/main" val="1489465114"/>
                      </a:ext>
                    </a:extLst>
                  </a:tr>
                  <a:tr h="370840">
                    <a:tc>
                      <a:txBody>
                        <a:bodyPr/>
                        <a:lstStyle/>
                        <a:p>
                          <a:pPr algn="l"/>
                          <a:r>
                            <a:rPr lang="en-US" dirty="0"/>
                            <a:t>Optimizer</a:t>
                          </a:r>
                          <a:endParaRPr lang="en-IN" dirty="0"/>
                        </a:p>
                      </a:txBody>
                      <a:tcPr/>
                    </a:tc>
                    <a:tc>
                      <a:txBody>
                        <a:bodyPr/>
                        <a:lstStyle/>
                        <a:p>
                          <a:endParaRPr lang="en-US"/>
                        </a:p>
                      </a:txBody>
                      <a:tcPr>
                        <a:blipFill>
                          <a:blip r:embed="rId2"/>
                          <a:stretch>
                            <a:fillRect l="-54518" t="-506557" r="-91416" b="-372131"/>
                          </a:stretch>
                        </a:blipFill>
                      </a:tcPr>
                    </a:tc>
                    <a:tc>
                      <a:txBody>
                        <a:bodyPr/>
                        <a:lstStyle/>
                        <a:p>
                          <a:endParaRPr lang="en-US"/>
                        </a:p>
                      </a:txBody>
                      <a:tcPr>
                        <a:blipFill>
                          <a:blip r:embed="rId2"/>
                          <a:stretch>
                            <a:fillRect l="-169587" t="-506557" r="-331" b="-372131"/>
                          </a:stretch>
                        </a:blipFill>
                      </a:tcPr>
                    </a:tc>
                    <a:extLst>
                      <a:ext uri="{0D108BD9-81ED-4DB2-BD59-A6C34878D82A}">
                        <a16:rowId xmlns:a16="http://schemas.microsoft.com/office/drawing/2014/main" val="3450264510"/>
                      </a:ext>
                    </a:extLst>
                  </a:tr>
                  <a:tr h="370840">
                    <a:tc>
                      <a:txBody>
                        <a:bodyPr/>
                        <a:lstStyle/>
                        <a:p>
                          <a:pPr algn="l"/>
                          <a:r>
                            <a:rPr lang="en-US" dirty="0"/>
                            <a:t>Learning rate</a:t>
                          </a:r>
                          <a:endParaRPr lang="en-IN" dirty="0"/>
                        </a:p>
                      </a:txBody>
                      <a:tcPr/>
                    </a:tc>
                    <a:tc>
                      <a:txBody>
                        <a:bodyPr/>
                        <a:lstStyle/>
                        <a:p>
                          <a:endParaRPr lang="en-US"/>
                        </a:p>
                      </a:txBody>
                      <a:tcPr>
                        <a:blipFill>
                          <a:blip r:embed="rId2"/>
                          <a:stretch>
                            <a:fillRect l="-54518" t="-606557" r="-91416" b="-272131"/>
                          </a:stretch>
                        </a:blipFill>
                      </a:tcPr>
                    </a:tc>
                    <a:tc>
                      <a:txBody>
                        <a:bodyPr/>
                        <a:lstStyle/>
                        <a:p>
                          <a:endParaRPr lang="en-US"/>
                        </a:p>
                      </a:txBody>
                      <a:tcPr>
                        <a:blipFill>
                          <a:blip r:embed="rId2"/>
                          <a:stretch>
                            <a:fillRect l="-169587" t="-606557" r="-331" b="-272131"/>
                          </a:stretch>
                        </a:blipFill>
                      </a:tcPr>
                    </a:tc>
                    <a:extLst>
                      <a:ext uri="{0D108BD9-81ED-4DB2-BD59-A6C34878D82A}">
                        <a16:rowId xmlns:a16="http://schemas.microsoft.com/office/drawing/2014/main" val="3639943671"/>
                      </a:ext>
                    </a:extLst>
                  </a:tr>
                  <a:tr h="914400">
                    <a:tc>
                      <a:txBody>
                        <a:bodyPr/>
                        <a:lstStyle/>
                        <a:p>
                          <a:pPr algn="l"/>
                          <a:r>
                            <a:rPr lang="en-US" dirty="0"/>
                            <a:t>Initialization</a:t>
                          </a:r>
                          <a:endParaRPr lang="en-IN" dirty="0"/>
                        </a:p>
                      </a:txBody>
                      <a:tcPr/>
                    </a:tc>
                    <a:tc>
                      <a:txBody>
                        <a:bodyPr/>
                        <a:lstStyle/>
                        <a:p>
                          <a:endParaRPr lang="en-US"/>
                        </a:p>
                      </a:txBody>
                      <a:tcPr>
                        <a:blipFill>
                          <a:blip r:embed="rId2"/>
                          <a:stretch>
                            <a:fillRect l="-54518" t="-287333" r="-91416" b="-10667"/>
                          </a:stretch>
                        </a:blipFill>
                      </a:tcPr>
                    </a:tc>
                    <a:tc>
                      <a:txBody>
                        <a:bodyPr/>
                        <a:lstStyle/>
                        <a:p>
                          <a:endParaRPr lang="en-US"/>
                        </a:p>
                      </a:txBody>
                      <a:tcPr>
                        <a:blipFill>
                          <a:blip r:embed="rId2"/>
                          <a:stretch>
                            <a:fillRect l="-169587" t="-287333" r="-331" b="-10667"/>
                          </a:stretch>
                        </a:blipFill>
                      </a:tcPr>
                    </a:tc>
                    <a:extLst>
                      <a:ext uri="{0D108BD9-81ED-4DB2-BD59-A6C34878D82A}">
                        <a16:rowId xmlns:a16="http://schemas.microsoft.com/office/drawing/2014/main" val="1414397725"/>
                      </a:ext>
                    </a:extLst>
                  </a:tr>
                </a:tbl>
              </a:graphicData>
            </a:graphic>
          </p:graphicFrame>
        </mc:Fallback>
      </mc:AlternateContent>
    </p:spTree>
    <p:extLst>
      <p:ext uri="{BB962C8B-B14F-4D97-AF65-F5344CB8AC3E}">
        <p14:creationId xmlns:p14="http://schemas.microsoft.com/office/powerpoint/2010/main" val="245815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DC0A0-5AD0-31E9-6831-D7983564B961}"/>
              </a:ext>
            </a:extLst>
          </p:cNvPr>
          <p:cNvSpPr>
            <a:spLocks noGrp="1"/>
          </p:cNvSpPr>
          <p:nvPr>
            <p:ph type="title"/>
          </p:nvPr>
        </p:nvSpPr>
        <p:spPr/>
        <p:txBody>
          <a:bodyPr/>
          <a:lstStyle/>
          <a:p>
            <a:r>
              <a:rPr lang="en-US" dirty="0"/>
              <a:t>Results - original</a:t>
            </a:r>
            <a:endParaRPr lang="en-IN" dirty="0"/>
          </a:p>
        </p:txBody>
      </p:sp>
      <p:pic>
        <p:nvPicPr>
          <p:cNvPr id="5" name="Content Placeholder 4">
            <a:extLst>
              <a:ext uri="{FF2B5EF4-FFF2-40B4-BE49-F238E27FC236}">
                <a16:creationId xmlns:a16="http://schemas.microsoft.com/office/drawing/2014/main" id="{CBB93124-E599-FADD-7105-4BF2BA4DEDD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1176"/>
          <a:stretch>
            <a:fillRect/>
          </a:stretch>
        </p:blipFill>
        <p:spPr>
          <a:xfrm>
            <a:off x="1650933" y="1429254"/>
            <a:ext cx="8890133" cy="4351338"/>
          </a:xfrm>
        </p:spPr>
      </p:pic>
      <p:sp>
        <p:nvSpPr>
          <p:cNvPr id="4" name="TextBox 3">
            <a:extLst>
              <a:ext uri="{FF2B5EF4-FFF2-40B4-BE49-F238E27FC236}">
                <a16:creationId xmlns:a16="http://schemas.microsoft.com/office/drawing/2014/main" id="{DE092DF7-EEC4-82C9-3462-ABCC88414D05}"/>
              </a:ext>
            </a:extLst>
          </p:cNvPr>
          <p:cNvSpPr txBox="1"/>
          <p:nvPr/>
        </p:nvSpPr>
        <p:spPr>
          <a:xfrm>
            <a:off x="590550" y="6316991"/>
            <a:ext cx="11287125" cy="276999"/>
          </a:xfrm>
          <a:prstGeom prst="rect">
            <a:avLst/>
          </a:prstGeom>
          <a:noFill/>
        </p:spPr>
        <p:txBody>
          <a:bodyPr wrap="square">
            <a:spAutoFit/>
          </a:bodyPr>
          <a:lstStyle/>
          <a:p>
            <a:r>
              <a:rPr lang="en-IN" sz="1200" b="0" i="0" dirty="0">
                <a:solidFill>
                  <a:srgbClr val="222222"/>
                </a:solidFill>
                <a:effectLst/>
                <a:latin typeface="Arial" panose="020B0604020202020204" pitchFamily="34" charset="0"/>
              </a:rPr>
              <a:t>Source : Kohl, Simon AA, et al. "A hierarchical probabilistic u-net for </a:t>
            </a:r>
            <a:r>
              <a:rPr lang="en-IN" sz="1200" b="0" i="0" dirty="0" err="1">
                <a:solidFill>
                  <a:srgbClr val="222222"/>
                </a:solidFill>
                <a:effectLst/>
                <a:latin typeface="Arial" panose="020B0604020202020204" pitchFamily="34" charset="0"/>
              </a:rPr>
              <a:t>modeling</a:t>
            </a:r>
            <a:r>
              <a:rPr lang="en-IN" sz="1200" b="0" i="0" dirty="0">
                <a:solidFill>
                  <a:srgbClr val="222222"/>
                </a:solidFill>
                <a:effectLst/>
                <a:latin typeface="Arial" panose="020B0604020202020204" pitchFamily="34" charset="0"/>
              </a:rPr>
              <a:t> multi-scale ambiguities." </a:t>
            </a:r>
            <a:r>
              <a:rPr lang="en-IN" sz="1200" b="0" i="1" dirty="0" err="1">
                <a:solidFill>
                  <a:srgbClr val="222222"/>
                </a:solidFill>
                <a:effectLst/>
                <a:latin typeface="Arial" panose="020B0604020202020204" pitchFamily="34" charset="0"/>
              </a:rPr>
              <a:t>arXiv</a:t>
            </a:r>
            <a:r>
              <a:rPr lang="en-IN" sz="1200" b="0" i="1" dirty="0">
                <a:solidFill>
                  <a:srgbClr val="222222"/>
                </a:solidFill>
                <a:effectLst/>
                <a:latin typeface="Arial" panose="020B0604020202020204" pitchFamily="34" charset="0"/>
              </a:rPr>
              <a:t> preprint arXiv:1905.13077</a:t>
            </a:r>
            <a:r>
              <a:rPr lang="en-IN" sz="1200" b="0" i="0" dirty="0">
                <a:solidFill>
                  <a:srgbClr val="222222"/>
                </a:solidFill>
                <a:effectLst/>
                <a:latin typeface="Arial" panose="020B0604020202020204" pitchFamily="34" charset="0"/>
              </a:rPr>
              <a:t> (2019).</a:t>
            </a:r>
            <a:endParaRPr lang="en-IN" sz="1200" dirty="0"/>
          </a:p>
        </p:txBody>
      </p:sp>
    </p:spTree>
    <p:extLst>
      <p:ext uri="{BB962C8B-B14F-4D97-AF65-F5344CB8AC3E}">
        <p14:creationId xmlns:p14="http://schemas.microsoft.com/office/powerpoint/2010/main" val="621505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26AA0-46E0-B53B-D510-7E226D7637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83BB6-595A-8F73-36B8-DE594F3EB8D4}"/>
              </a:ext>
            </a:extLst>
          </p:cNvPr>
          <p:cNvSpPr>
            <a:spLocks noGrp="1"/>
          </p:cNvSpPr>
          <p:nvPr>
            <p:ph type="title"/>
          </p:nvPr>
        </p:nvSpPr>
        <p:spPr/>
        <p:txBody>
          <a:bodyPr/>
          <a:lstStyle/>
          <a:p>
            <a:r>
              <a:rPr lang="en-US" dirty="0"/>
              <a:t>Results - reproduced</a:t>
            </a:r>
            <a:endParaRPr lang="en-IN" dirty="0"/>
          </a:p>
        </p:txBody>
      </p:sp>
      <p:pic>
        <p:nvPicPr>
          <p:cNvPr id="7" name="Picture 6">
            <a:extLst>
              <a:ext uri="{FF2B5EF4-FFF2-40B4-BE49-F238E27FC236}">
                <a16:creationId xmlns:a16="http://schemas.microsoft.com/office/drawing/2014/main" id="{8C7A04AE-2368-749E-94CB-0ADCEFD180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275" y="1679955"/>
            <a:ext cx="5323453" cy="4546395"/>
          </a:xfrm>
          <a:prstGeom prst="rect">
            <a:avLst/>
          </a:prstGeom>
        </p:spPr>
      </p:pic>
      <p:pic>
        <p:nvPicPr>
          <p:cNvPr id="8" name="Content Placeholder 7">
            <a:extLst>
              <a:ext uri="{FF2B5EF4-FFF2-40B4-BE49-F238E27FC236}">
                <a16:creationId xmlns:a16="http://schemas.microsoft.com/office/drawing/2014/main" id="{DA718E4C-7FDA-7B88-CCA2-1642FCB51CD4}"/>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6467856" y="1679956"/>
            <a:ext cx="5323453" cy="4546396"/>
          </a:xfrm>
        </p:spPr>
      </p:pic>
      <p:cxnSp>
        <p:nvCxnSpPr>
          <p:cNvPr id="9" name="Straight Connector 8">
            <a:extLst>
              <a:ext uri="{FF2B5EF4-FFF2-40B4-BE49-F238E27FC236}">
                <a16:creationId xmlns:a16="http://schemas.microsoft.com/office/drawing/2014/main" id="{D50C813A-62E1-06F4-23CB-7B7326E0CD19}"/>
              </a:ext>
            </a:extLst>
          </p:cNvPr>
          <p:cNvCxnSpPr/>
          <p:nvPr/>
        </p:nvCxnSpPr>
        <p:spPr>
          <a:xfrm>
            <a:off x="6096000" y="1597572"/>
            <a:ext cx="0" cy="462877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3771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D32E6-EF9D-45B9-5702-BAAB42F0E502}"/>
              </a:ext>
            </a:extLst>
          </p:cNvPr>
          <p:cNvSpPr>
            <a:spLocks noGrp="1"/>
          </p:cNvSpPr>
          <p:nvPr>
            <p:ph type="title"/>
          </p:nvPr>
        </p:nvSpPr>
        <p:spPr/>
        <p:txBody>
          <a:bodyPr/>
          <a:lstStyle/>
          <a:p>
            <a:r>
              <a:rPr lang="en-US" dirty="0"/>
              <a:t>Performance metrics comparison </a:t>
            </a:r>
            <a:endParaRPr lang="en-IN" dirty="0"/>
          </a:p>
        </p:txBody>
      </p:sp>
      <p:pic>
        <p:nvPicPr>
          <p:cNvPr id="5" name="Content Placeholder 4">
            <a:extLst>
              <a:ext uri="{FF2B5EF4-FFF2-40B4-BE49-F238E27FC236}">
                <a16:creationId xmlns:a16="http://schemas.microsoft.com/office/drawing/2014/main" id="{F3A8E08A-1D7E-F81A-D800-0FC53C21EB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8452" y="1822227"/>
            <a:ext cx="9435095" cy="3991357"/>
          </a:xfrm>
        </p:spPr>
      </p:pic>
      <p:sp>
        <p:nvSpPr>
          <p:cNvPr id="3" name="Rectangle 2">
            <a:extLst>
              <a:ext uri="{FF2B5EF4-FFF2-40B4-BE49-F238E27FC236}">
                <a16:creationId xmlns:a16="http://schemas.microsoft.com/office/drawing/2014/main" id="{ADC6A5F1-AED5-D83B-E273-22ED852A8645}"/>
              </a:ext>
            </a:extLst>
          </p:cNvPr>
          <p:cNvSpPr/>
          <p:nvPr/>
        </p:nvSpPr>
        <p:spPr>
          <a:xfrm>
            <a:off x="2532993" y="2730281"/>
            <a:ext cx="7620000" cy="698719"/>
          </a:xfrm>
          <a:prstGeom prst="rect">
            <a:avLst/>
          </a:prstGeom>
          <a:noFill/>
          <a:ln w="571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38B855F5-F7F7-B68A-73DF-CA199574B386}"/>
              </a:ext>
            </a:extLst>
          </p:cNvPr>
          <p:cNvSpPr/>
          <p:nvPr/>
        </p:nvSpPr>
        <p:spPr>
          <a:xfrm>
            <a:off x="2532993" y="4171731"/>
            <a:ext cx="7620000" cy="698719"/>
          </a:xfrm>
          <a:prstGeom prst="rect">
            <a:avLst/>
          </a:prstGeom>
          <a:noFill/>
          <a:ln w="571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A742980B-8141-50F4-FE9C-0409B4A32D56}"/>
              </a:ext>
            </a:extLst>
          </p:cNvPr>
          <p:cNvSpPr/>
          <p:nvPr/>
        </p:nvSpPr>
        <p:spPr>
          <a:xfrm>
            <a:off x="2532993" y="3468545"/>
            <a:ext cx="7620000" cy="698719"/>
          </a:xfrm>
          <a:prstGeom prst="rect">
            <a:avLst/>
          </a:prstGeom>
          <a:noFill/>
          <a:ln w="5715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5559AEEE-41D4-E0A7-FFEE-B025BF9AD556}"/>
              </a:ext>
            </a:extLst>
          </p:cNvPr>
          <p:cNvSpPr/>
          <p:nvPr/>
        </p:nvSpPr>
        <p:spPr>
          <a:xfrm>
            <a:off x="2532993" y="4870450"/>
            <a:ext cx="7620000" cy="698719"/>
          </a:xfrm>
          <a:prstGeom prst="rect">
            <a:avLst/>
          </a:prstGeom>
          <a:noFill/>
          <a:ln w="5715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6622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par>
                          <p:cTn id="9" fill="hold">
                            <p:stCondLst>
                              <p:cond delay="0"/>
                            </p:stCondLst>
                            <p:childTnLst>
                              <p:par>
                                <p:cTn id="10" presetID="26" presetClass="emph" presetSubtype="0" fill="hold" grpId="0" nodeType="afterEffect">
                                  <p:stCondLst>
                                    <p:cond delay="0"/>
                                  </p:stCondLst>
                                  <p:childTnLst>
                                    <p:animEffect transition="out" filter="fade">
                                      <p:cBhvr>
                                        <p:cTn id="11" dur="250" tmFilter="0, 0; .2, .5; .8, .5; 1, 0"/>
                                        <p:tgtEl>
                                          <p:spTgt spid="3"/>
                                        </p:tgtEl>
                                      </p:cBhvr>
                                    </p:animEffect>
                                    <p:animScale>
                                      <p:cBhvr>
                                        <p:cTn id="12" dur="125" autoRev="1" fill="hold"/>
                                        <p:tgtEl>
                                          <p:spTgt spid="3"/>
                                        </p:tgtEl>
                                      </p:cBhvr>
                                      <p:by x="105000" y="105000"/>
                                    </p:animScale>
                                  </p:childTnLst>
                                </p:cTn>
                              </p:par>
                              <p:par>
                                <p:cTn id="13" presetID="26" presetClass="emph" presetSubtype="0" fill="hold" grpId="0" nodeType="withEffect">
                                  <p:stCondLst>
                                    <p:cond delay="0"/>
                                  </p:stCondLst>
                                  <p:childTnLst>
                                    <p:animEffect transition="out" filter="fade">
                                      <p:cBhvr>
                                        <p:cTn id="14" dur="250" tmFilter="0, 0; .2, .5; .8, .5; 1, 0"/>
                                        <p:tgtEl>
                                          <p:spTgt spid="4"/>
                                        </p:tgtEl>
                                      </p:cBhvr>
                                    </p:animEffect>
                                    <p:animScale>
                                      <p:cBhvr>
                                        <p:cTn id="15" dur="125" autoRev="1" fill="hold"/>
                                        <p:tgtEl>
                                          <p:spTgt spid="4"/>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2" nodeType="clickEffect">
                                  <p:stCondLst>
                                    <p:cond delay="0"/>
                                  </p:stCondLst>
                                  <p:childTnLst>
                                    <p:set>
                                      <p:cBhvr>
                                        <p:cTn id="19" dur="1" fill="hold">
                                          <p:stCondLst>
                                            <p:cond delay="0"/>
                                          </p:stCondLst>
                                        </p:cTn>
                                        <p:tgtEl>
                                          <p:spTgt spid="3"/>
                                        </p:tgtEl>
                                        <p:attrNameLst>
                                          <p:attrName>style.visibility</p:attrName>
                                        </p:attrNameLst>
                                      </p:cBhvr>
                                      <p:to>
                                        <p:strVal val="hidden"/>
                                      </p:to>
                                    </p:set>
                                  </p:childTnLst>
                                </p:cTn>
                              </p:par>
                              <p:par>
                                <p:cTn id="20" presetID="1" presetClass="exit" presetSubtype="0" fill="hold" grpId="2" nodeType="withEffect">
                                  <p:stCondLst>
                                    <p:cond delay="0"/>
                                  </p:stCondLst>
                                  <p:childTnLst>
                                    <p:set>
                                      <p:cBhvr>
                                        <p:cTn id="21" dur="1" fill="hold">
                                          <p:stCondLst>
                                            <p:cond delay="0"/>
                                          </p:stCondLst>
                                        </p:cTn>
                                        <p:tgtEl>
                                          <p:spTgt spid="4"/>
                                        </p:tgtEl>
                                        <p:attrNameLst>
                                          <p:attrName>style.visibility</p:attrName>
                                        </p:attrNameLst>
                                      </p:cBhvr>
                                      <p:to>
                                        <p:strVal val="hidden"/>
                                      </p:to>
                                    </p:set>
                                  </p:childTnLst>
                                </p:cTn>
                              </p:par>
                            </p:childTnLst>
                          </p:cTn>
                        </p:par>
                        <p:par>
                          <p:cTn id="22" fill="hold">
                            <p:stCondLst>
                              <p:cond delay="0"/>
                            </p:stCondLst>
                            <p:childTnLst>
                              <p:par>
                                <p:cTn id="23" presetID="1" presetClass="entr" presetSubtype="0" fill="hold" grpId="0" nodeType="afterEffect">
                                  <p:stCondLst>
                                    <p:cond delay="25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250"/>
                                  </p:stCondLst>
                                  <p:childTnLst>
                                    <p:set>
                                      <p:cBhvr>
                                        <p:cTn id="26" dur="1" fill="hold">
                                          <p:stCondLst>
                                            <p:cond delay="0"/>
                                          </p:stCondLst>
                                        </p:cTn>
                                        <p:tgtEl>
                                          <p:spTgt spid="7"/>
                                        </p:tgtEl>
                                        <p:attrNameLst>
                                          <p:attrName>style.visibility</p:attrName>
                                        </p:attrNameLst>
                                      </p:cBhvr>
                                      <p:to>
                                        <p:strVal val="visible"/>
                                      </p:to>
                                    </p:set>
                                  </p:childTnLst>
                                </p:cTn>
                              </p:par>
                            </p:childTnLst>
                          </p:cTn>
                        </p:par>
                        <p:par>
                          <p:cTn id="27" fill="hold">
                            <p:stCondLst>
                              <p:cond delay="250"/>
                            </p:stCondLst>
                            <p:childTnLst>
                              <p:par>
                                <p:cTn id="28" presetID="26" presetClass="emph" presetSubtype="0" fill="hold" grpId="1" nodeType="afterEffect">
                                  <p:stCondLst>
                                    <p:cond delay="0"/>
                                  </p:stCondLst>
                                  <p:childTnLst>
                                    <p:animEffect transition="out" filter="fade">
                                      <p:cBhvr>
                                        <p:cTn id="29" dur="250" tmFilter="0, 0; .2, .5; .8, .5; 1, 0"/>
                                        <p:tgtEl>
                                          <p:spTgt spid="7"/>
                                        </p:tgtEl>
                                      </p:cBhvr>
                                    </p:animEffect>
                                    <p:animScale>
                                      <p:cBhvr>
                                        <p:cTn id="30" dur="125" autoRev="1" fill="hold"/>
                                        <p:tgtEl>
                                          <p:spTgt spid="7"/>
                                        </p:tgtEl>
                                      </p:cBhvr>
                                      <p:by x="105000" y="105000"/>
                                    </p:animScale>
                                  </p:childTnLst>
                                </p:cTn>
                              </p:par>
                              <p:par>
                                <p:cTn id="31" presetID="26" presetClass="emph" presetSubtype="0" fill="hold" grpId="1" nodeType="withEffect">
                                  <p:stCondLst>
                                    <p:cond delay="0"/>
                                  </p:stCondLst>
                                  <p:childTnLst>
                                    <p:animEffect transition="out" filter="fade">
                                      <p:cBhvr>
                                        <p:cTn id="32" dur="250" tmFilter="0, 0; .2, .5; .8, .5; 1, 0"/>
                                        <p:tgtEl>
                                          <p:spTgt spid="6"/>
                                        </p:tgtEl>
                                      </p:cBhvr>
                                    </p:animEffect>
                                    <p:animScale>
                                      <p:cBhvr>
                                        <p:cTn id="33" dur="125" autoRev="1" fill="hold"/>
                                        <p:tgtEl>
                                          <p:spTgt spid="6"/>
                                        </p:tgtEl>
                                      </p:cBhvr>
                                      <p:by x="105000" y="105000"/>
                                    </p:animScale>
                                  </p:childTnLst>
                                </p:cTn>
                              </p:par>
                            </p:childTnLst>
                          </p:cTn>
                        </p:par>
                        <p:par>
                          <p:cTn id="34" fill="hold">
                            <p:stCondLst>
                              <p:cond delay="500"/>
                            </p:stCondLst>
                            <p:childTnLst>
                              <p:par>
                                <p:cTn id="35" presetID="1" presetClass="exit" presetSubtype="0" fill="hold" grpId="2" nodeType="afterEffect">
                                  <p:stCondLst>
                                    <p:cond delay="1000"/>
                                  </p:stCondLst>
                                  <p:childTnLst>
                                    <p:set>
                                      <p:cBhvr>
                                        <p:cTn id="36" dur="1" fill="hold">
                                          <p:stCondLst>
                                            <p:cond delay="0"/>
                                          </p:stCondLst>
                                        </p:cTn>
                                        <p:tgtEl>
                                          <p:spTgt spid="6"/>
                                        </p:tgtEl>
                                        <p:attrNameLst>
                                          <p:attrName>style.visibility</p:attrName>
                                        </p:attrNameLst>
                                      </p:cBhvr>
                                      <p:to>
                                        <p:strVal val="hidden"/>
                                      </p:to>
                                    </p:set>
                                  </p:childTnLst>
                                </p:cTn>
                              </p:par>
                              <p:par>
                                <p:cTn id="37" presetID="1" presetClass="exit" presetSubtype="0" fill="hold" grpId="2" nodeType="withEffect">
                                  <p:stCondLst>
                                    <p:cond delay="1000"/>
                                  </p:stCondLst>
                                  <p:childTnLst>
                                    <p:set>
                                      <p:cBhvr>
                                        <p:cTn id="3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4" grpId="0" animBg="1"/>
      <p:bldP spid="4" grpId="1" animBg="1"/>
      <p:bldP spid="4" grpId="2" animBg="1"/>
      <p:bldP spid="6" grpId="0" animBg="1"/>
      <p:bldP spid="6" grpId="1" animBg="1"/>
      <p:bldP spid="6" grpId="2" animBg="1"/>
      <p:bldP spid="7" grpId="0" animBg="1"/>
      <p:bldP spid="7" grpId="1" animBg="1"/>
      <p:bldP spid="7" grpId="2"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5C32C-DC46-B4B5-7A74-32F31C7DD7E0}"/>
              </a:ext>
            </a:extLst>
          </p:cNvPr>
          <p:cNvSpPr>
            <a:spLocks noGrp="1"/>
          </p:cNvSpPr>
          <p:nvPr>
            <p:ph type="title"/>
          </p:nvPr>
        </p:nvSpPr>
        <p:spPr>
          <a:xfrm>
            <a:off x="472440" y="2766218"/>
            <a:ext cx="10515600" cy="1325563"/>
          </a:xfrm>
        </p:spPr>
        <p:txBody>
          <a:bodyPr/>
          <a:lstStyle/>
          <a:p>
            <a:pPr algn="ctr"/>
            <a:r>
              <a:rPr lang="en-US" dirty="0"/>
              <a:t>THANK YOU </a:t>
            </a:r>
            <a:endParaRPr lang="en-IN" dirty="0"/>
          </a:p>
        </p:txBody>
      </p:sp>
      <p:pic>
        <p:nvPicPr>
          <p:cNvPr id="5" name="Content Placeholder 4" descr="Smiling face outline outline">
            <a:extLst>
              <a:ext uri="{FF2B5EF4-FFF2-40B4-BE49-F238E27FC236}">
                <a16:creationId xmlns:a16="http://schemas.microsoft.com/office/drawing/2014/main" id="{CBF0FE21-8893-9631-FBD1-519FC43DA20F}"/>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7233199" y="2971799"/>
            <a:ext cx="914400" cy="914400"/>
          </a:xfrm>
        </p:spPr>
      </p:pic>
    </p:spTree>
    <p:extLst>
      <p:ext uri="{BB962C8B-B14F-4D97-AF65-F5344CB8AC3E}">
        <p14:creationId xmlns:p14="http://schemas.microsoft.com/office/powerpoint/2010/main" val="4270573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E3A2D-3649-A63C-C7D7-9248C0A40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8BB344-859B-FF7F-9F37-2248A292E02C}"/>
              </a:ext>
            </a:extLst>
          </p:cNvPr>
          <p:cNvSpPr>
            <a:spLocks noGrp="1"/>
          </p:cNvSpPr>
          <p:nvPr>
            <p:ph type="title"/>
          </p:nvPr>
        </p:nvSpPr>
        <p:spPr>
          <a:xfrm>
            <a:off x="661626" y="327818"/>
            <a:ext cx="10515600" cy="1325563"/>
          </a:xfrm>
        </p:spPr>
        <p:txBody>
          <a:bodyPr/>
          <a:lstStyle/>
          <a:p>
            <a:pPr algn="ctr"/>
            <a:r>
              <a:rPr lang="en-US" dirty="0"/>
              <a:t>Questions?</a:t>
            </a:r>
            <a:endParaRPr lang="en-IN" dirty="0"/>
          </a:p>
        </p:txBody>
      </p:sp>
      <p:pic>
        <p:nvPicPr>
          <p:cNvPr id="3" name="Content Placeholder 2">
            <a:extLst>
              <a:ext uri="{FF2B5EF4-FFF2-40B4-BE49-F238E27FC236}">
                <a16:creationId xmlns:a16="http://schemas.microsoft.com/office/drawing/2014/main" id="{B5C40584-87C3-54C7-D22E-57B9834C1F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5069" y="1471448"/>
            <a:ext cx="5701861" cy="4869602"/>
          </a:xfrm>
          <a:prstGeom prst="rect">
            <a:avLst/>
          </a:prstGeom>
        </p:spPr>
      </p:pic>
    </p:spTree>
    <p:extLst>
      <p:ext uri="{BB962C8B-B14F-4D97-AF65-F5344CB8AC3E}">
        <p14:creationId xmlns:p14="http://schemas.microsoft.com/office/powerpoint/2010/main" val="438437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83116-754B-605C-AC1E-FB0F5ACEFC8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899D351-6BF9-8D3E-265F-7B0DADD6ADA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240198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DBEE4-897E-142E-9840-1E311124E223}"/>
              </a:ext>
            </a:extLst>
          </p:cNvPr>
          <p:cNvSpPr>
            <a:spLocks noGrp="1"/>
          </p:cNvSpPr>
          <p:nvPr>
            <p:ph type="title"/>
          </p:nvPr>
        </p:nvSpPr>
        <p:spPr/>
        <p:txBody>
          <a:bodyPr/>
          <a:lstStyle/>
          <a:p>
            <a:r>
              <a:rPr lang="en-US" dirty="0"/>
              <a:t>Data</a:t>
            </a:r>
            <a:endParaRPr lang="en-IN" dirty="0"/>
          </a:p>
        </p:txBody>
      </p:sp>
      <p:sp>
        <p:nvSpPr>
          <p:cNvPr id="3" name="Content Placeholder 2">
            <a:extLst>
              <a:ext uri="{FF2B5EF4-FFF2-40B4-BE49-F238E27FC236}">
                <a16:creationId xmlns:a16="http://schemas.microsoft.com/office/drawing/2014/main" id="{FB111A32-F1D9-CA29-B5D7-A5F301191B0A}"/>
              </a:ext>
            </a:extLst>
          </p:cNvPr>
          <p:cNvSpPr>
            <a:spLocks noGrp="1"/>
          </p:cNvSpPr>
          <p:nvPr>
            <p:ph idx="1"/>
          </p:nvPr>
        </p:nvSpPr>
        <p:spPr>
          <a:xfrm>
            <a:off x="838200" y="1452289"/>
            <a:ext cx="10515600" cy="2210348"/>
          </a:xfrm>
        </p:spPr>
        <p:txBody>
          <a:bodyPr>
            <a:noAutofit/>
          </a:bodyPr>
          <a:lstStyle/>
          <a:p>
            <a:pPr marL="0" indent="0">
              <a:buNone/>
            </a:pPr>
            <a:r>
              <a:rPr lang="en-US" sz="2400" dirty="0"/>
              <a:t>LIDC 2D crop</a:t>
            </a:r>
          </a:p>
          <a:p>
            <a:r>
              <a:rPr lang="en-US" sz="2400" dirty="0"/>
              <a:t>Train images - 8843, Test images - 1980</a:t>
            </a:r>
          </a:p>
          <a:p>
            <a:r>
              <a:rPr lang="en-IN" sz="2400" dirty="0"/>
              <a:t>Train masks – 35372, Test masks – 7920</a:t>
            </a:r>
          </a:p>
          <a:p>
            <a:r>
              <a:rPr lang="en-IN" sz="2400" dirty="0"/>
              <a:t>Augmentation: </a:t>
            </a:r>
            <a:r>
              <a:rPr lang="en-US" sz="2400" dirty="0"/>
              <a:t>Intensity: 30% chance, Noise: 20% chance, </a:t>
            </a:r>
            <a:br>
              <a:rPr lang="en-US" sz="2400" dirty="0"/>
            </a:br>
            <a:r>
              <a:rPr lang="en-US" sz="2400" dirty="0"/>
              <a:t>Affine: 100% chance (always), Elastic: 50% chance</a:t>
            </a:r>
            <a:endParaRPr lang="en-IN" sz="2400" dirty="0"/>
          </a:p>
          <a:p>
            <a:pPr marL="0" indent="0">
              <a:buNone/>
            </a:pPr>
            <a:endParaRPr lang="en-IN" sz="2400" dirty="0"/>
          </a:p>
        </p:txBody>
      </p:sp>
      <p:sp>
        <p:nvSpPr>
          <p:cNvPr id="5" name="TextBox 4">
            <a:extLst>
              <a:ext uri="{FF2B5EF4-FFF2-40B4-BE49-F238E27FC236}">
                <a16:creationId xmlns:a16="http://schemas.microsoft.com/office/drawing/2014/main" id="{1A472E88-A765-4236-D658-E8682F319910}"/>
              </a:ext>
            </a:extLst>
          </p:cNvPr>
          <p:cNvSpPr txBox="1"/>
          <p:nvPr/>
        </p:nvSpPr>
        <p:spPr>
          <a:xfrm>
            <a:off x="712611" y="4781544"/>
            <a:ext cx="10766778" cy="1384995"/>
          </a:xfrm>
          <a:prstGeom prst="rect">
            <a:avLst/>
          </a:prstGeom>
          <a:noFill/>
        </p:spPr>
        <p:txBody>
          <a:bodyPr wrap="square">
            <a:spAutoFit/>
          </a:bodyPr>
          <a:lstStyle/>
          <a:p>
            <a:pPr algn="just"/>
            <a:r>
              <a:rPr lang="en-US" sz="1200" dirty="0"/>
              <a:t>We resampled the CT scans to 0.5mm x 0.5mm in-plane resolution and then cropped 2D images of size 180 x 180 pixels, centered on the abnormality position. The abnormality positions are those where at least one of the experts segmented an abnormality and we assumed that two masks from different graders correspond to the same abnormality if their tightest bounding boxes overlap. We only used those </a:t>
            </a:r>
            <a:r>
              <a:rPr lang="en-US" sz="1200" dirty="0" err="1"/>
              <a:t>abnormaliies</a:t>
            </a:r>
            <a:r>
              <a:rPr lang="en-US" sz="1200" dirty="0"/>
              <a:t> that were specified as a polygon (outline) in the XML files of the LIDC dataset, disregarding the ones that only have center of shape. That is, according to the LIDC paper we use the ones that are larger than 3mm, and filter out the others, that are clinically less relevant. We also </a:t>
            </a:r>
            <a:r>
              <a:rPr lang="en-US" sz="1200" dirty="0" err="1"/>
              <a:t>filterd</a:t>
            </a:r>
            <a:r>
              <a:rPr lang="en-US" sz="1200" dirty="0"/>
              <a:t> out each </a:t>
            </a:r>
            <a:r>
              <a:rPr lang="en-US" sz="1200" dirty="0" err="1"/>
              <a:t>Dicom</a:t>
            </a:r>
            <a:r>
              <a:rPr lang="en-US" sz="1200" dirty="0"/>
              <a:t> file whose absolute value in the XML element of </a:t>
            </a:r>
            <a:r>
              <a:rPr lang="en-US" sz="1200" dirty="0" err="1"/>
              <a:t>SliceLocation</a:t>
            </a:r>
            <a:r>
              <a:rPr lang="en-US" sz="1200" dirty="0"/>
              <a:t> differs from the absolute value of the last element in </a:t>
            </a:r>
            <a:r>
              <a:rPr lang="en-US" sz="1200" dirty="0" err="1"/>
              <a:t>ImagePositionPatient</a:t>
            </a:r>
            <a:r>
              <a:rPr lang="en-US" sz="1200" dirty="0"/>
              <a:t>.</a:t>
            </a:r>
          </a:p>
          <a:p>
            <a:r>
              <a:rPr lang="en-US" sz="1200" dirty="0"/>
              <a:t>This preprocessing results in 8843 images for training, 1993 for validation and 1980 for testing (corresponding to 530, 111 and 103 patients respectively).</a:t>
            </a:r>
          </a:p>
        </p:txBody>
      </p:sp>
      <p:pic>
        <p:nvPicPr>
          <p:cNvPr id="7" name="Picture 6">
            <a:extLst>
              <a:ext uri="{FF2B5EF4-FFF2-40B4-BE49-F238E27FC236}">
                <a16:creationId xmlns:a16="http://schemas.microsoft.com/office/drawing/2014/main" id="{EAB17D60-594E-EDC2-E202-C86524B6D40A}"/>
              </a:ext>
            </a:extLst>
          </p:cNvPr>
          <p:cNvPicPr>
            <a:picLocks noChangeAspect="1"/>
          </p:cNvPicPr>
          <p:nvPr/>
        </p:nvPicPr>
        <p:blipFill>
          <a:blip r:embed="rId3"/>
          <a:stretch>
            <a:fillRect/>
          </a:stretch>
        </p:blipFill>
        <p:spPr>
          <a:xfrm>
            <a:off x="9271000" y="178148"/>
            <a:ext cx="2333978" cy="4535975"/>
          </a:xfrm>
          <a:prstGeom prst="rect">
            <a:avLst/>
          </a:prstGeom>
        </p:spPr>
      </p:pic>
    </p:spTree>
    <p:extLst>
      <p:ext uri="{BB962C8B-B14F-4D97-AF65-F5344CB8AC3E}">
        <p14:creationId xmlns:p14="http://schemas.microsoft.com/office/powerpoint/2010/main" val="1102337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D5361-2552-0BBC-CEA6-23883F5A23AA}"/>
              </a:ext>
            </a:extLst>
          </p:cNvPr>
          <p:cNvSpPr>
            <a:spLocks noGrp="1"/>
          </p:cNvSpPr>
          <p:nvPr>
            <p:ph type="title"/>
          </p:nvPr>
        </p:nvSpPr>
        <p:spPr/>
        <p:txBody>
          <a:bodyPr/>
          <a:lstStyle/>
          <a:p>
            <a:r>
              <a:rPr lang="en-US" dirty="0"/>
              <a:t>Architecture</a:t>
            </a:r>
            <a:endParaRPr lang="en-IN" dirty="0"/>
          </a:p>
        </p:txBody>
      </p:sp>
      <p:sp>
        <p:nvSpPr>
          <p:cNvPr id="3" name="Content Placeholder 2">
            <a:extLst>
              <a:ext uri="{FF2B5EF4-FFF2-40B4-BE49-F238E27FC236}">
                <a16:creationId xmlns:a16="http://schemas.microsoft.com/office/drawing/2014/main" id="{2F38C396-19CF-98D5-CEA1-56A7250E41B9}"/>
              </a:ext>
            </a:extLst>
          </p:cNvPr>
          <p:cNvSpPr>
            <a:spLocks noGrp="1"/>
          </p:cNvSpPr>
          <p:nvPr>
            <p:ph idx="1"/>
          </p:nvPr>
        </p:nvSpPr>
        <p:spPr>
          <a:xfrm>
            <a:off x="838200" y="1825625"/>
            <a:ext cx="5257800" cy="4351338"/>
          </a:xfrm>
        </p:spPr>
        <p:txBody>
          <a:bodyPr vert="horz" lIns="91440" tIns="45720" rIns="91440" bIns="45720" rtlCol="0">
            <a:normAutofit/>
          </a:bodyPr>
          <a:lstStyle/>
          <a:p>
            <a:pPr marL="0" indent="0">
              <a:buNone/>
            </a:pPr>
            <a:r>
              <a:rPr lang="en-US" sz="2000" b="1" dirty="0"/>
              <a:t>HPU-Net</a:t>
            </a:r>
          </a:p>
          <a:p>
            <a:r>
              <a:rPr lang="en-US" sz="2000" dirty="0"/>
              <a:t>8 scale U-Net, preactivated residual blocks</a:t>
            </a:r>
          </a:p>
          <a:p>
            <a:r>
              <a:rPr lang="en-US" sz="2000" dirty="0"/>
              <a:t>1 x 1 conv at the bottom</a:t>
            </a:r>
          </a:p>
          <a:p>
            <a:r>
              <a:rPr lang="en-US" sz="2000" dirty="0"/>
              <a:t>Down sampling – average pooling</a:t>
            </a:r>
          </a:p>
          <a:p>
            <a:r>
              <a:rPr lang="en-US" sz="2000" dirty="0"/>
              <a:t>Up sampling – nearest neighbor interpolation</a:t>
            </a:r>
          </a:p>
          <a:p>
            <a:r>
              <a:rPr lang="en-US" sz="2000" dirty="0"/>
              <a:t>Channels – 24 up to 192.</a:t>
            </a:r>
          </a:p>
        </p:txBody>
      </p:sp>
      <p:sp>
        <p:nvSpPr>
          <p:cNvPr id="4" name="Content Placeholder 2">
            <a:extLst>
              <a:ext uri="{FF2B5EF4-FFF2-40B4-BE49-F238E27FC236}">
                <a16:creationId xmlns:a16="http://schemas.microsoft.com/office/drawing/2014/main" id="{FAB3474B-61F9-8FF4-4967-9BA813572F90}"/>
              </a:ext>
            </a:extLst>
          </p:cNvPr>
          <p:cNvSpPr txBox="1">
            <a:spLocks/>
          </p:cNvSpPr>
          <p:nvPr/>
        </p:nvSpPr>
        <p:spPr>
          <a:xfrm>
            <a:off x="6569149" y="1825625"/>
            <a:ext cx="5257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err="1"/>
              <a:t>sPU</a:t>
            </a:r>
            <a:r>
              <a:rPr lang="en-US" sz="2000" b="1" dirty="0"/>
              <a:t>-Net</a:t>
            </a:r>
          </a:p>
          <a:p>
            <a:r>
              <a:rPr lang="en-US" sz="2000" dirty="0"/>
              <a:t>5 scale U-Net</a:t>
            </a:r>
          </a:p>
          <a:p>
            <a:r>
              <a:rPr lang="en-US" sz="2000" dirty="0"/>
              <a:t>1 x 1 conv at the bottom</a:t>
            </a:r>
          </a:p>
          <a:p>
            <a:r>
              <a:rPr lang="en-US" sz="2000" dirty="0"/>
              <a:t>Down sampling – bilinear interpolation</a:t>
            </a:r>
          </a:p>
          <a:p>
            <a:r>
              <a:rPr lang="en-US" sz="2000" dirty="0"/>
              <a:t>Up sampling – bilinear interpolation</a:t>
            </a:r>
          </a:p>
          <a:p>
            <a:r>
              <a:rPr lang="en-US" sz="2000" dirty="0"/>
              <a:t>Channels – 32 up to 512.</a:t>
            </a:r>
          </a:p>
        </p:txBody>
      </p:sp>
    </p:spTree>
    <p:extLst>
      <p:ext uri="{BB962C8B-B14F-4D97-AF65-F5344CB8AC3E}">
        <p14:creationId xmlns:p14="http://schemas.microsoft.com/office/powerpoint/2010/main" val="2488587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BD966-1F7F-27E8-C8BE-CFBD920FBB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17D4F-EC35-9972-DC9A-AA9648C7C900}"/>
              </a:ext>
            </a:extLst>
          </p:cNvPr>
          <p:cNvSpPr>
            <a:spLocks noGrp="1"/>
          </p:cNvSpPr>
          <p:nvPr>
            <p:ph type="title"/>
          </p:nvPr>
        </p:nvSpPr>
        <p:spPr/>
        <p:txBody>
          <a:bodyPr/>
          <a:lstStyle/>
          <a:p>
            <a:r>
              <a:rPr lang="en-US" dirty="0"/>
              <a:t>Training</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3A07C26-4E85-C862-43AD-3EEC5414A974}"/>
                  </a:ext>
                </a:extLst>
              </p:cNvPr>
              <p:cNvSpPr>
                <a:spLocks noGrp="1"/>
              </p:cNvSpPr>
              <p:nvPr>
                <p:ph idx="1"/>
              </p:nvPr>
            </p:nvSpPr>
            <p:spPr>
              <a:xfrm>
                <a:off x="838200" y="1690688"/>
                <a:ext cx="5257800" cy="4486275"/>
              </a:xfrm>
            </p:spPr>
            <p:txBody>
              <a:bodyPr>
                <a:normAutofit/>
              </a:bodyPr>
              <a:lstStyle/>
              <a:p>
                <a:pPr marL="0" indent="0">
                  <a:buNone/>
                </a:pPr>
                <a:r>
                  <a:rPr lang="en-IN" sz="1800" b="1" dirty="0"/>
                  <a:t>HPU-Net</a:t>
                </a:r>
              </a:p>
              <a:p>
                <a:r>
                  <a:rPr lang="en-IN" sz="1800" dirty="0"/>
                  <a:t> Batch size: 32</a:t>
                </a:r>
              </a:p>
              <a:p>
                <a:r>
                  <a:rPr lang="en-IN" sz="1800" dirty="0"/>
                  <a:t>Training steps: 240,000 iterations</a:t>
                </a:r>
              </a:p>
              <a:p>
                <a:r>
                  <a:rPr lang="en-US" sz="1800" dirty="0"/>
                  <a:t> Optimizer: Adam with weight decay 1 × </a:t>
                </a:r>
                <a14:m>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10</m:t>
                        </m:r>
                      </m:e>
                      <m:sup>
                        <m:r>
                          <a:rPr lang="en-US" sz="1800" b="0" i="1" smtClean="0">
                            <a:latin typeface="Cambria Math" panose="02040503050406030204" pitchFamily="18" charset="0"/>
                          </a:rPr>
                          <m:t>−5</m:t>
                        </m:r>
                      </m:sup>
                    </m:sSup>
                  </m:oMath>
                </a14:m>
                <a:endParaRPr lang="en-US" sz="1800" dirty="0"/>
              </a:p>
              <a:p>
                <a:r>
                  <a:rPr lang="en-US" sz="1800" dirty="0"/>
                  <a:t>Learning rate: 1 × </a:t>
                </a:r>
                <a14:m>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10</m:t>
                        </m:r>
                      </m:e>
                      <m:sup>
                        <m:r>
                          <a:rPr lang="en-US" sz="1800" b="0" i="1" smtClean="0">
                            <a:latin typeface="Cambria Math" panose="02040503050406030204" pitchFamily="18" charset="0"/>
                          </a:rPr>
                          <m:t>−4</m:t>
                        </m:r>
                      </m:sup>
                    </m:sSup>
                  </m:oMath>
                </a14:m>
                <a:r>
                  <a:rPr lang="en-US" sz="1800" dirty="0"/>
                  <a:t>, reduced by factor of 0.5 at milestones 60,000, 120,000, 180,000, and 210,000 iterations.</a:t>
                </a:r>
              </a:p>
              <a:p>
                <a:r>
                  <a:rPr lang="en-US" sz="1800" dirty="0"/>
                  <a:t> Loss function: GECO objective with</a:t>
                </a:r>
              </a:p>
              <a:p>
                <a:pPr marL="0" indent="0">
                  <a:buNone/>
                </a:pPr>
                <a:r>
                  <a:rPr lang="en-IN" sz="1800" dirty="0"/>
                  <a:t>– reconstruction constraint </a:t>
                </a:r>
                <a:r>
                  <a:rPr lang="el-GR" sz="1800" dirty="0"/>
                  <a:t>κ = 0.05,</a:t>
                </a:r>
              </a:p>
              <a:p>
                <a:pPr marL="0" indent="0">
                  <a:buNone/>
                </a:pPr>
                <a:r>
                  <a:rPr lang="en-US" sz="1800" dirty="0"/>
                  <a:t>– exponential moving average factor α = 0.99,</a:t>
                </a:r>
              </a:p>
              <a:p>
                <a:pPr marL="0" indent="0">
                  <a:buNone/>
                </a:pPr>
                <a:r>
                  <a:rPr lang="en-IN" sz="1800" dirty="0"/>
                  <a:t>– initial multiplier </a:t>
                </a:r>
                <a:r>
                  <a:rPr lang="el-GR" sz="1800" dirty="0"/>
                  <a:t>λ = 1.0,</a:t>
                </a:r>
              </a:p>
              <a:p>
                <a:pPr marL="0" indent="0">
                  <a:buNone/>
                </a:pPr>
                <a:r>
                  <a:rPr lang="en-IN" sz="1800" dirty="0"/>
                  <a:t>– step size = 0.01.</a:t>
                </a:r>
              </a:p>
            </p:txBody>
          </p:sp>
        </mc:Choice>
        <mc:Fallback xmlns="">
          <p:sp>
            <p:nvSpPr>
              <p:cNvPr id="3" name="Content Placeholder 2">
                <a:extLst>
                  <a:ext uri="{FF2B5EF4-FFF2-40B4-BE49-F238E27FC236}">
                    <a16:creationId xmlns:a16="http://schemas.microsoft.com/office/drawing/2014/main" id="{B3A07C26-4E85-C862-43AD-3EEC5414A974}"/>
                  </a:ext>
                </a:extLst>
              </p:cNvPr>
              <p:cNvSpPr>
                <a:spLocks noGrp="1" noRot="1" noChangeAspect="1" noMove="1" noResize="1" noEditPoints="1" noAdjustHandles="1" noChangeArrowheads="1" noChangeShapeType="1" noTextEdit="1"/>
              </p:cNvSpPr>
              <p:nvPr>
                <p:ph idx="1"/>
              </p:nvPr>
            </p:nvSpPr>
            <p:spPr>
              <a:xfrm>
                <a:off x="838200" y="1690688"/>
                <a:ext cx="5257800" cy="4486275"/>
              </a:xfrm>
              <a:blipFill>
                <a:blip r:embed="rId2"/>
                <a:stretch>
                  <a:fillRect l="-1044" t="-122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73A38CAD-527A-90E3-0491-324320EABBC2}"/>
                  </a:ext>
                </a:extLst>
              </p:cNvPr>
              <p:cNvSpPr txBox="1">
                <a:spLocks/>
              </p:cNvSpPr>
              <p:nvPr/>
            </p:nvSpPr>
            <p:spPr>
              <a:xfrm>
                <a:off x="6018028" y="1690687"/>
                <a:ext cx="5702595" cy="4486275"/>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IN" b="1" dirty="0" err="1"/>
                  <a:t>sPU</a:t>
                </a:r>
                <a:r>
                  <a:rPr lang="en-IN" b="1" dirty="0"/>
                  <a:t>-Net  </a:t>
                </a:r>
              </a:p>
              <a:p>
                <a:r>
                  <a:rPr lang="en-IN" dirty="0"/>
                  <a:t>Batch size: 32</a:t>
                </a:r>
              </a:p>
              <a:p>
                <a:r>
                  <a:rPr lang="en-IN" dirty="0"/>
                  <a:t> Training steps: 240,000 iterations</a:t>
                </a:r>
              </a:p>
              <a:p>
                <a:r>
                  <a:rPr lang="en-US" dirty="0"/>
                  <a:t> Optimizer: Adam with weight decay 1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−5</m:t>
                        </m:r>
                      </m:sup>
                    </m:sSup>
                  </m:oMath>
                </a14:m>
                <a:endParaRPr lang="en-US" dirty="0"/>
              </a:p>
              <a:p>
                <a:r>
                  <a:rPr lang="en-US" dirty="0"/>
                  <a:t>Learning rate: 1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m:t>
                        </m:r>
                        <m:r>
                          <a:rPr lang="en-US" b="0" i="1" smtClean="0">
                            <a:latin typeface="Cambria Math" panose="02040503050406030204" pitchFamily="18" charset="0"/>
                          </a:rPr>
                          <m:t>4</m:t>
                        </m:r>
                      </m:sup>
                    </m:sSup>
                  </m:oMath>
                </a14:m>
                <a:r>
                  <a:rPr lang="en-US" dirty="0"/>
                  <a:t>, reduced by factor of 0.5 at milestones 48,000, 96,000, 144,000, 192,000 and 216,000 iterations.</a:t>
                </a:r>
              </a:p>
              <a:p>
                <a:r>
                  <a:rPr lang="en-US" dirty="0"/>
                  <a:t>Loss: Standard ELBO with β = 1</a:t>
                </a:r>
              </a:p>
            </p:txBody>
          </p:sp>
        </mc:Choice>
        <mc:Fallback xmlns="">
          <p:sp>
            <p:nvSpPr>
              <p:cNvPr id="4" name="Content Placeholder 2">
                <a:extLst>
                  <a:ext uri="{FF2B5EF4-FFF2-40B4-BE49-F238E27FC236}">
                    <a16:creationId xmlns:a16="http://schemas.microsoft.com/office/drawing/2014/main" id="{73A38CAD-527A-90E3-0491-324320EABBC2}"/>
                  </a:ext>
                </a:extLst>
              </p:cNvPr>
              <p:cNvSpPr txBox="1">
                <a:spLocks noRot="1" noChangeAspect="1" noMove="1" noResize="1" noEditPoints="1" noAdjustHandles="1" noChangeArrowheads="1" noChangeShapeType="1" noTextEdit="1"/>
              </p:cNvSpPr>
              <p:nvPr/>
            </p:nvSpPr>
            <p:spPr>
              <a:xfrm>
                <a:off x="6018028" y="1690687"/>
                <a:ext cx="5702595" cy="4486275"/>
              </a:xfrm>
              <a:prstGeom prst="rect">
                <a:avLst/>
              </a:prstGeom>
              <a:blipFill>
                <a:blip r:embed="rId3"/>
                <a:stretch>
                  <a:fillRect l="-855" t="-1223"/>
                </a:stretch>
              </a:blipFill>
            </p:spPr>
            <p:txBody>
              <a:bodyPr/>
              <a:lstStyle/>
              <a:p>
                <a:r>
                  <a:rPr lang="en-IN">
                    <a:noFill/>
                  </a:rPr>
                  <a:t> </a:t>
                </a:r>
              </a:p>
            </p:txBody>
          </p:sp>
        </mc:Fallback>
      </mc:AlternateContent>
    </p:spTree>
    <p:extLst>
      <p:ext uri="{BB962C8B-B14F-4D97-AF65-F5344CB8AC3E}">
        <p14:creationId xmlns:p14="http://schemas.microsoft.com/office/powerpoint/2010/main" val="1148605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D76E1-3D28-2A5C-9C09-E8ECE52B446D}"/>
              </a:ext>
            </a:extLst>
          </p:cNvPr>
          <p:cNvSpPr>
            <a:spLocks noGrp="1"/>
          </p:cNvSpPr>
          <p:nvPr>
            <p:ph type="title"/>
          </p:nvPr>
        </p:nvSpPr>
        <p:spPr/>
        <p:txBody>
          <a:bodyPr/>
          <a:lstStyle/>
          <a:p>
            <a:r>
              <a:rPr lang="en-US" dirty="0"/>
              <a:t>Results</a:t>
            </a:r>
            <a:endParaRPr lang="en-IN" dirty="0"/>
          </a:p>
        </p:txBody>
      </p:sp>
      <p:pic>
        <p:nvPicPr>
          <p:cNvPr id="5" name="Content Placeholder 4" descr="A screenshot of a computer screen&#10;&#10;AI-generated content may be incorrect.">
            <a:extLst>
              <a:ext uri="{FF2B5EF4-FFF2-40B4-BE49-F238E27FC236}">
                <a16:creationId xmlns:a16="http://schemas.microsoft.com/office/drawing/2014/main" id="{33453DF5-6640-20D7-AEDE-EF809CBAF9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5095056" cy="4351338"/>
          </a:xfrm>
        </p:spPr>
      </p:pic>
      <p:pic>
        <p:nvPicPr>
          <p:cNvPr id="7" name="Picture 6" descr="A screenshot of a computer screen">
            <a:extLst>
              <a:ext uri="{FF2B5EF4-FFF2-40B4-BE49-F238E27FC236}">
                <a16:creationId xmlns:a16="http://schemas.microsoft.com/office/drawing/2014/main" id="{8B671299-4DD8-99F9-AB91-D5669A4DDC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8746" y="1690688"/>
            <a:ext cx="5095056" cy="4351338"/>
          </a:xfrm>
          <a:prstGeom prst="rect">
            <a:avLst/>
          </a:prstGeom>
        </p:spPr>
      </p:pic>
    </p:spTree>
    <p:extLst>
      <p:ext uri="{BB962C8B-B14F-4D97-AF65-F5344CB8AC3E}">
        <p14:creationId xmlns:p14="http://schemas.microsoft.com/office/powerpoint/2010/main" val="1907046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6AB0A-8570-6734-2D9A-0291A3D046AE}"/>
              </a:ext>
            </a:extLst>
          </p:cNvPr>
          <p:cNvSpPr>
            <a:spLocks noGrp="1"/>
          </p:cNvSpPr>
          <p:nvPr>
            <p:ph type="title"/>
          </p:nvPr>
        </p:nvSpPr>
        <p:spPr/>
        <p:txBody>
          <a:bodyPr/>
          <a:lstStyle/>
          <a:p>
            <a:r>
              <a:rPr lang="en-US" dirty="0"/>
              <a:t>Results</a:t>
            </a:r>
            <a:endParaRPr lang="en-IN" dirty="0"/>
          </a:p>
        </p:txBody>
      </p:sp>
      <p:pic>
        <p:nvPicPr>
          <p:cNvPr id="5" name="Content Placeholder 4" descr="A screenshot of a computer screen&#10;&#10;AI-generated content may be incorrect.">
            <a:extLst>
              <a:ext uri="{FF2B5EF4-FFF2-40B4-BE49-F238E27FC236}">
                <a16:creationId xmlns:a16="http://schemas.microsoft.com/office/drawing/2014/main" id="{8AF37A02-D5CB-F98E-2203-73E0848E1D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8262" y="1690687"/>
            <a:ext cx="5622962" cy="4802187"/>
          </a:xfrm>
        </p:spPr>
      </p:pic>
      <p:pic>
        <p:nvPicPr>
          <p:cNvPr id="7" name="Picture 6" descr="A screenshot of a computer screen&#10;&#10;AI-generated content may be incorrect.">
            <a:extLst>
              <a:ext uri="{FF2B5EF4-FFF2-40B4-BE49-F238E27FC236}">
                <a16:creationId xmlns:a16="http://schemas.microsoft.com/office/drawing/2014/main" id="{012F9496-BE54-FCB2-E76A-D681036B1D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9110" y="1690687"/>
            <a:ext cx="5622964" cy="4802187"/>
          </a:xfrm>
          <a:prstGeom prst="rect">
            <a:avLst/>
          </a:prstGeom>
        </p:spPr>
      </p:pic>
    </p:spTree>
    <p:extLst>
      <p:ext uri="{BB962C8B-B14F-4D97-AF65-F5344CB8AC3E}">
        <p14:creationId xmlns:p14="http://schemas.microsoft.com/office/powerpoint/2010/main" val="26831904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D078C-A482-E9DF-5334-A042D0DD0E14}"/>
              </a:ext>
            </a:extLst>
          </p:cNvPr>
          <p:cNvSpPr>
            <a:spLocks noGrp="1"/>
          </p:cNvSpPr>
          <p:nvPr>
            <p:ph type="title"/>
          </p:nvPr>
        </p:nvSpPr>
        <p:spPr/>
        <p:txBody>
          <a:bodyPr/>
          <a:lstStyle/>
          <a:p>
            <a:r>
              <a:rPr lang="en-US" dirty="0"/>
              <a:t>Results</a:t>
            </a:r>
            <a:endParaRPr lang="en-IN" dirty="0"/>
          </a:p>
        </p:txBody>
      </p:sp>
      <p:pic>
        <p:nvPicPr>
          <p:cNvPr id="5" name="Content Placeholder 4" descr="A screenshot of a computer screen&#10;&#10;AI-generated content may be incorrect.">
            <a:extLst>
              <a:ext uri="{FF2B5EF4-FFF2-40B4-BE49-F238E27FC236}">
                <a16:creationId xmlns:a16="http://schemas.microsoft.com/office/drawing/2014/main" id="{0C04FAA4-56B0-1967-B88F-9F64D9489B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9814" y="1710687"/>
            <a:ext cx="5095056" cy="4351338"/>
          </a:xfrm>
        </p:spPr>
      </p:pic>
      <p:pic>
        <p:nvPicPr>
          <p:cNvPr id="7" name="Picture 6" descr="A screenshot of a computer screen">
            <a:extLst>
              <a:ext uri="{FF2B5EF4-FFF2-40B4-BE49-F238E27FC236}">
                <a16:creationId xmlns:a16="http://schemas.microsoft.com/office/drawing/2014/main" id="{D8BE1A6F-B2F0-136E-1207-72EE24AEE3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7132" y="1710687"/>
            <a:ext cx="5095056" cy="4351338"/>
          </a:xfrm>
          <a:prstGeom prst="rect">
            <a:avLst/>
          </a:prstGeom>
        </p:spPr>
      </p:pic>
    </p:spTree>
    <p:extLst>
      <p:ext uri="{BB962C8B-B14F-4D97-AF65-F5344CB8AC3E}">
        <p14:creationId xmlns:p14="http://schemas.microsoft.com/office/powerpoint/2010/main" val="35721871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F8680-6FCC-27AD-1673-F01FBE335E74}"/>
              </a:ext>
            </a:extLst>
          </p:cNvPr>
          <p:cNvSpPr>
            <a:spLocks noGrp="1"/>
          </p:cNvSpPr>
          <p:nvPr>
            <p:ph type="title"/>
          </p:nvPr>
        </p:nvSpPr>
        <p:spPr/>
        <p:txBody>
          <a:bodyPr/>
          <a:lstStyle/>
          <a:p>
            <a:r>
              <a:rPr lang="en-US" dirty="0"/>
              <a:t>Results</a:t>
            </a:r>
            <a:endParaRPr lang="en-IN" dirty="0"/>
          </a:p>
        </p:txBody>
      </p:sp>
      <p:pic>
        <p:nvPicPr>
          <p:cNvPr id="5" name="Content Placeholder 4" descr="A screenshot of a computer screen">
            <a:extLst>
              <a:ext uri="{FF2B5EF4-FFF2-40B4-BE49-F238E27FC236}">
                <a16:creationId xmlns:a16="http://schemas.microsoft.com/office/drawing/2014/main" id="{604EF8BB-344C-C301-C685-D760A597A2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69611" y="673562"/>
            <a:ext cx="6452778" cy="5510875"/>
          </a:xfrm>
        </p:spPr>
      </p:pic>
    </p:spTree>
    <p:extLst>
      <p:ext uri="{BB962C8B-B14F-4D97-AF65-F5344CB8AC3E}">
        <p14:creationId xmlns:p14="http://schemas.microsoft.com/office/powerpoint/2010/main" val="11458528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A4B87-9B90-E531-3620-31B8E31E5B26}"/>
              </a:ext>
            </a:extLst>
          </p:cNvPr>
          <p:cNvSpPr>
            <a:spLocks noGrp="1"/>
          </p:cNvSpPr>
          <p:nvPr>
            <p:ph type="title"/>
          </p:nvPr>
        </p:nvSpPr>
        <p:spPr/>
        <p:txBody>
          <a:bodyPr/>
          <a:lstStyle/>
          <a:p>
            <a:r>
              <a:rPr lang="en-US" dirty="0"/>
              <a:t>Runtime</a:t>
            </a:r>
            <a:endParaRPr lang="en-IN" dirty="0"/>
          </a:p>
        </p:txBody>
      </p:sp>
      <p:pic>
        <p:nvPicPr>
          <p:cNvPr id="5" name="Content Placeholder 4">
            <a:extLst>
              <a:ext uri="{FF2B5EF4-FFF2-40B4-BE49-F238E27FC236}">
                <a16:creationId xmlns:a16="http://schemas.microsoft.com/office/drawing/2014/main" id="{B8584159-307E-C7D3-A35C-BCEE080A0892}"/>
              </a:ext>
            </a:extLst>
          </p:cNvPr>
          <p:cNvPicPr>
            <a:picLocks noGrp="1" noChangeAspect="1"/>
          </p:cNvPicPr>
          <p:nvPr>
            <p:ph idx="1"/>
          </p:nvPr>
        </p:nvPicPr>
        <p:blipFill>
          <a:blip r:embed="rId2"/>
          <a:stretch>
            <a:fillRect/>
          </a:stretch>
        </p:blipFill>
        <p:spPr>
          <a:xfrm>
            <a:off x="541052" y="2017055"/>
            <a:ext cx="5554948" cy="3650729"/>
          </a:xfrm>
          <a:prstGeom prst="rect">
            <a:avLst/>
          </a:prstGeom>
        </p:spPr>
      </p:pic>
      <p:pic>
        <p:nvPicPr>
          <p:cNvPr id="7" name="Picture 6">
            <a:extLst>
              <a:ext uri="{FF2B5EF4-FFF2-40B4-BE49-F238E27FC236}">
                <a16:creationId xmlns:a16="http://schemas.microsoft.com/office/drawing/2014/main" id="{ED93073C-1E70-09DF-AE69-04D259003574}"/>
              </a:ext>
            </a:extLst>
          </p:cNvPr>
          <p:cNvPicPr>
            <a:picLocks noChangeAspect="1"/>
          </p:cNvPicPr>
          <p:nvPr/>
        </p:nvPicPr>
        <p:blipFill>
          <a:blip r:embed="rId3"/>
          <a:stretch>
            <a:fillRect/>
          </a:stretch>
        </p:blipFill>
        <p:spPr>
          <a:xfrm>
            <a:off x="6281109" y="2017056"/>
            <a:ext cx="5618791" cy="3650728"/>
          </a:xfrm>
          <a:prstGeom prst="rect">
            <a:avLst/>
          </a:prstGeom>
        </p:spPr>
      </p:pic>
    </p:spTree>
    <p:extLst>
      <p:ext uri="{BB962C8B-B14F-4D97-AF65-F5344CB8AC3E}">
        <p14:creationId xmlns:p14="http://schemas.microsoft.com/office/powerpoint/2010/main" val="28380690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074D0-B91C-5E36-84C2-4496A8945BC5}"/>
              </a:ext>
            </a:extLst>
          </p:cNvPr>
          <p:cNvSpPr>
            <a:spLocks noGrp="1"/>
          </p:cNvSpPr>
          <p:nvPr>
            <p:ph type="title"/>
          </p:nvPr>
        </p:nvSpPr>
        <p:spPr/>
        <p:txBody>
          <a:bodyPr/>
          <a:lstStyle/>
          <a:p>
            <a:r>
              <a:rPr lang="en-US" dirty="0" err="1"/>
              <a:t>sPU</a:t>
            </a:r>
            <a:r>
              <a:rPr lang="en-US" dirty="0"/>
              <a:t>-Net</a:t>
            </a:r>
            <a:endParaRPr lang="en-IN" dirty="0"/>
          </a:p>
        </p:txBody>
      </p:sp>
      <p:pic>
        <p:nvPicPr>
          <p:cNvPr id="5" name="Content Placeholder 4">
            <a:extLst>
              <a:ext uri="{FF2B5EF4-FFF2-40B4-BE49-F238E27FC236}">
                <a16:creationId xmlns:a16="http://schemas.microsoft.com/office/drawing/2014/main" id="{DCBDFC9F-A439-ED12-DCC0-C2232B6097B9}"/>
              </a:ext>
            </a:extLst>
          </p:cNvPr>
          <p:cNvPicPr>
            <a:picLocks noGrp="1" noChangeAspect="1"/>
          </p:cNvPicPr>
          <p:nvPr>
            <p:ph idx="1"/>
          </p:nvPr>
        </p:nvPicPr>
        <p:blipFill>
          <a:blip r:embed="rId2"/>
          <a:stretch>
            <a:fillRect/>
          </a:stretch>
        </p:blipFill>
        <p:spPr>
          <a:xfrm>
            <a:off x="2780286" y="1457324"/>
            <a:ext cx="6631428" cy="4851589"/>
          </a:xfrm>
          <a:prstGeom prst="rect">
            <a:avLst/>
          </a:prstGeom>
        </p:spPr>
      </p:pic>
      <p:sp>
        <p:nvSpPr>
          <p:cNvPr id="6" name="TextBox 5">
            <a:extLst>
              <a:ext uri="{FF2B5EF4-FFF2-40B4-BE49-F238E27FC236}">
                <a16:creationId xmlns:a16="http://schemas.microsoft.com/office/drawing/2014/main" id="{0F2B39C8-48BB-619C-DC30-841918EAC71E}"/>
              </a:ext>
            </a:extLst>
          </p:cNvPr>
          <p:cNvSpPr txBox="1"/>
          <p:nvPr/>
        </p:nvSpPr>
        <p:spPr>
          <a:xfrm>
            <a:off x="1765300" y="4394200"/>
            <a:ext cx="1058303" cy="369332"/>
          </a:xfrm>
          <a:prstGeom prst="rect">
            <a:avLst/>
          </a:prstGeom>
          <a:noFill/>
        </p:spPr>
        <p:txBody>
          <a:bodyPr wrap="none" rtlCol="0">
            <a:spAutoFit/>
          </a:bodyPr>
          <a:lstStyle/>
          <a:p>
            <a:r>
              <a:rPr lang="en-US" dirty="0"/>
              <a:t>Samples</a:t>
            </a:r>
            <a:endParaRPr lang="en-IN" dirty="0"/>
          </a:p>
        </p:txBody>
      </p:sp>
      <p:sp>
        <p:nvSpPr>
          <p:cNvPr id="7" name="TextBox 6">
            <a:extLst>
              <a:ext uri="{FF2B5EF4-FFF2-40B4-BE49-F238E27FC236}">
                <a16:creationId xmlns:a16="http://schemas.microsoft.com/office/drawing/2014/main" id="{69E957BE-3D18-F784-BDC2-11B7550C1429}"/>
              </a:ext>
            </a:extLst>
          </p:cNvPr>
          <p:cNvSpPr txBox="1"/>
          <p:nvPr/>
        </p:nvSpPr>
        <p:spPr>
          <a:xfrm>
            <a:off x="1765300" y="2488446"/>
            <a:ext cx="980268" cy="369332"/>
          </a:xfrm>
          <a:prstGeom prst="rect">
            <a:avLst/>
          </a:prstGeom>
          <a:noFill/>
        </p:spPr>
        <p:txBody>
          <a:bodyPr wrap="none" rtlCol="0">
            <a:spAutoFit/>
          </a:bodyPr>
          <a:lstStyle/>
          <a:p>
            <a:r>
              <a:rPr lang="en-US" dirty="0"/>
              <a:t>Graders</a:t>
            </a:r>
            <a:endParaRPr lang="en-IN" dirty="0"/>
          </a:p>
        </p:txBody>
      </p:sp>
    </p:spTree>
    <p:extLst>
      <p:ext uri="{BB962C8B-B14F-4D97-AF65-F5344CB8AC3E}">
        <p14:creationId xmlns:p14="http://schemas.microsoft.com/office/powerpoint/2010/main" val="13836880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2A41-A074-F7B5-CF04-8CCC5E3480F1}"/>
              </a:ext>
            </a:extLst>
          </p:cNvPr>
          <p:cNvSpPr>
            <a:spLocks noGrp="1"/>
          </p:cNvSpPr>
          <p:nvPr>
            <p:ph type="title"/>
          </p:nvPr>
        </p:nvSpPr>
        <p:spPr/>
        <p:txBody>
          <a:bodyPr/>
          <a:lstStyle/>
          <a:p>
            <a:r>
              <a:rPr lang="en-US" dirty="0"/>
              <a:t>HPU-Net</a:t>
            </a:r>
            <a:endParaRPr lang="en-IN" dirty="0"/>
          </a:p>
        </p:txBody>
      </p:sp>
      <p:pic>
        <p:nvPicPr>
          <p:cNvPr id="9" name="Picture 8">
            <a:extLst>
              <a:ext uri="{FF2B5EF4-FFF2-40B4-BE49-F238E27FC236}">
                <a16:creationId xmlns:a16="http://schemas.microsoft.com/office/drawing/2014/main" id="{DFABCEAD-4E3A-77FE-30AB-99AEC5CFA95F}"/>
              </a:ext>
            </a:extLst>
          </p:cNvPr>
          <p:cNvPicPr>
            <a:picLocks noChangeAspect="1"/>
          </p:cNvPicPr>
          <p:nvPr/>
        </p:nvPicPr>
        <p:blipFill>
          <a:blip r:embed="rId2"/>
          <a:srcRect t="2099"/>
          <a:stretch>
            <a:fillRect/>
          </a:stretch>
        </p:blipFill>
        <p:spPr>
          <a:xfrm>
            <a:off x="2950196" y="874039"/>
            <a:ext cx="6994628" cy="2395772"/>
          </a:xfrm>
          <a:prstGeom prst="rect">
            <a:avLst/>
          </a:prstGeom>
        </p:spPr>
      </p:pic>
      <p:pic>
        <p:nvPicPr>
          <p:cNvPr id="11" name="Picture 10">
            <a:extLst>
              <a:ext uri="{FF2B5EF4-FFF2-40B4-BE49-F238E27FC236}">
                <a16:creationId xmlns:a16="http://schemas.microsoft.com/office/drawing/2014/main" id="{EFE3417F-5C2D-C2B0-7CCA-620713B7B64E}"/>
              </a:ext>
            </a:extLst>
          </p:cNvPr>
          <p:cNvPicPr>
            <a:picLocks noChangeAspect="1"/>
          </p:cNvPicPr>
          <p:nvPr/>
        </p:nvPicPr>
        <p:blipFill>
          <a:blip r:embed="rId3"/>
          <a:stretch>
            <a:fillRect/>
          </a:stretch>
        </p:blipFill>
        <p:spPr>
          <a:xfrm>
            <a:off x="3172996" y="3326008"/>
            <a:ext cx="6702716" cy="3357778"/>
          </a:xfrm>
          <a:prstGeom prst="rect">
            <a:avLst/>
          </a:prstGeom>
        </p:spPr>
      </p:pic>
      <p:sp>
        <p:nvSpPr>
          <p:cNvPr id="13" name="TextBox 12">
            <a:extLst>
              <a:ext uri="{FF2B5EF4-FFF2-40B4-BE49-F238E27FC236}">
                <a16:creationId xmlns:a16="http://schemas.microsoft.com/office/drawing/2014/main" id="{FE932BA8-BC77-B919-76E1-FA3CCA2A3965}"/>
              </a:ext>
            </a:extLst>
          </p:cNvPr>
          <p:cNvSpPr txBox="1"/>
          <p:nvPr/>
        </p:nvSpPr>
        <p:spPr>
          <a:xfrm rot="16200000">
            <a:off x="2421045" y="4538722"/>
            <a:ext cx="1058303" cy="369332"/>
          </a:xfrm>
          <a:prstGeom prst="rect">
            <a:avLst/>
          </a:prstGeom>
          <a:noFill/>
        </p:spPr>
        <p:txBody>
          <a:bodyPr wrap="none" rtlCol="0">
            <a:spAutoFit/>
          </a:bodyPr>
          <a:lstStyle/>
          <a:p>
            <a:r>
              <a:rPr lang="en-US" dirty="0"/>
              <a:t>Samples</a:t>
            </a:r>
            <a:endParaRPr lang="en-IN" dirty="0"/>
          </a:p>
        </p:txBody>
      </p:sp>
    </p:spTree>
    <p:extLst>
      <p:ext uri="{BB962C8B-B14F-4D97-AF65-F5344CB8AC3E}">
        <p14:creationId xmlns:p14="http://schemas.microsoft.com/office/powerpoint/2010/main" val="4234577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0E318-5954-150B-8246-0989BADE5FBA}"/>
              </a:ext>
            </a:extLst>
          </p:cNvPr>
          <p:cNvSpPr>
            <a:spLocks noGrp="1"/>
          </p:cNvSpPr>
          <p:nvPr>
            <p:ph type="title"/>
          </p:nvPr>
        </p:nvSpPr>
        <p:spPr/>
        <p:txBody>
          <a:bodyPr/>
          <a:lstStyle/>
          <a:p>
            <a:r>
              <a:rPr lang="en-US" dirty="0"/>
              <a:t>Metrics</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05EE8B0-DF9B-86B6-153F-5827DB5D6D4F}"/>
                  </a:ext>
                </a:extLst>
              </p:cNvPr>
              <p:cNvSpPr>
                <a:spLocks noGrp="1"/>
              </p:cNvSpPr>
              <p:nvPr>
                <p:ph idx="1"/>
              </p:nvPr>
            </p:nvSpPr>
            <p:spPr/>
            <p:txBody>
              <a:bodyPr>
                <a:normAutofit/>
              </a:bodyPr>
              <a:lstStyle/>
              <a:p>
                <a:r>
                  <a:rPr lang="en-US" sz="2000" dirty="0"/>
                  <a:t>Reconstruction </a:t>
                </a:r>
                <a:r>
                  <a:rPr lang="en-US" sz="2000" dirty="0" err="1"/>
                  <a:t>IoU</a:t>
                </a:r>
                <a:r>
                  <a:rPr lang="en-US" sz="2000" dirty="0"/>
                  <a:t> (</a:t>
                </a:r>
                <a:r>
                  <a:rPr lang="en-US" sz="2000" dirty="0" err="1"/>
                  <a:t>IoUrec</a:t>
                </a:r>
                <a:r>
                  <a:rPr lang="en-US" sz="2000" dirty="0"/>
                  <a:t>) : which measures how well the model can reconstruct a given expert segmentation.</a:t>
                </a:r>
              </a:p>
              <a:p>
                <a:pPr marL="0" indent="0">
                  <a:buNone/>
                </a:pPr>
                <a:endParaRPr lang="en-US" sz="2000" dirty="0"/>
              </a:p>
              <a:p>
                <a:pPr marL="0" indent="0">
                  <a:buNone/>
                </a:pPr>
                <a:r>
                  <a:rPr lang="en-US" sz="2000" dirty="0"/>
                  <a:t>• Hungarian-matched </a:t>
                </a:r>
                <a:r>
                  <a:rPr lang="en-US" sz="2000" dirty="0" err="1"/>
                  <a:t>IoU</a:t>
                </a:r>
                <a:r>
                  <a:rPr lang="en-US" sz="2000" dirty="0"/>
                  <a:t> : which evaluates how well the model samples align with the expert annotations after optimal matching .</a:t>
                </a:r>
                <a:br>
                  <a:rPr lang="en-US" sz="2000" dirty="0"/>
                </a:br>
                <a:endParaRPr lang="en-US" sz="2000" dirty="0"/>
              </a:p>
              <a:p>
                <a:pPr marL="0" indent="0">
                  <a:buNone/>
                </a:pPr>
                <a:r>
                  <a:rPr lang="en-US" sz="2000" dirty="0"/>
                  <a:t>• Squared Generalized Energy Distance (GED2) : which measures how well the conditional distribution produced by a generative model agrees with the </a:t>
                </a:r>
                <a:r>
                  <a:rPr lang="en-IN" sz="2000" dirty="0"/>
                  <a:t>given ground-truth distribution .</a:t>
                </a:r>
              </a:p>
              <a:p>
                <a:pPr marL="0" indent="0">
                  <a:buNone/>
                </a:pPr>
                <a:r>
                  <a:rPr lang="en-IN" sz="2000" dirty="0"/>
                  <a:t> </a:t>
                </a:r>
                <a:r>
                  <a:rPr lang="en-IN" sz="2400" dirty="0">
                    <a:latin typeface="Cambria Math" panose="02040503050406030204" pitchFamily="18" charset="0"/>
                    <a:ea typeface="Cambria Math" panose="02040503050406030204" pitchFamily="18" charset="0"/>
                  </a:rPr>
                  <a:t>GE</a:t>
                </a:r>
                <a14:m>
                  <m:oMath xmlns:m="http://schemas.openxmlformats.org/officeDocument/2006/math">
                    <m:sSup>
                      <m:sSupPr>
                        <m:ctrlPr>
                          <a:rPr lang="en-IN" sz="2400" i="1">
                            <a:latin typeface="Cambria Math" panose="02040503050406030204" pitchFamily="18" charset="0"/>
                          </a:rPr>
                        </m:ctrlPr>
                      </m:sSupPr>
                      <m:e>
                        <m:r>
                          <a:rPr lang="en-US" sz="2400" i="1">
                            <a:latin typeface="Cambria Math" panose="02040503050406030204" pitchFamily="18" charset="0"/>
                          </a:rPr>
                          <m:t>𝐷</m:t>
                        </m:r>
                      </m:e>
                      <m:sup>
                        <m:r>
                          <a:rPr lang="en-US" sz="2400" i="1">
                            <a:latin typeface="Cambria Math" panose="02040503050406030204" pitchFamily="18" charset="0"/>
                          </a:rPr>
                          <m:t>2</m:t>
                        </m:r>
                      </m:sup>
                    </m:sSup>
                    <m:r>
                      <a:rPr lang="en-US" sz="2400" i="1">
                        <a:latin typeface="Cambria Math" panose="02040503050406030204" pitchFamily="18" charset="0"/>
                      </a:rPr>
                      <m:t> </m:t>
                    </m:r>
                  </m:oMath>
                </a14:m>
                <a:r>
                  <a:rPr lang="pt-BR" sz="2200" dirty="0"/>
                  <a:t>=2(1−E[IoU(</a:t>
                </a:r>
                <a:r>
                  <a:rPr lang="pt-BR" sz="2200" i="1" dirty="0"/>
                  <a:t>S</a:t>
                </a:r>
                <a:r>
                  <a:rPr lang="pt-BR" sz="2200" dirty="0"/>
                  <a:t>,</a:t>
                </a:r>
                <a:r>
                  <a:rPr lang="pt-BR" sz="2200" i="1" dirty="0"/>
                  <a:t>Y</a:t>
                </a:r>
                <a:r>
                  <a:rPr lang="pt-BR" sz="2200" dirty="0"/>
                  <a:t>)])−</a:t>
                </a:r>
                <a:r>
                  <a:rPr lang="en-IN" sz="2200" dirty="0"/>
                  <a:t>(1−E[</a:t>
                </a:r>
                <a:r>
                  <a:rPr lang="en-IN" sz="2200" dirty="0" err="1"/>
                  <a:t>IoU</a:t>
                </a:r>
                <a:r>
                  <a:rPr lang="en-IN" sz="2200" dirty="0"/>
                  <a:t>(</a:t>
                </a:r>
                <a:r>
                  <a:rPr lang="en-IN" sz="2200" i="1" dirty="0"/>
                  <a:t>S</a:t>
                </a:r>
                <a:r>
                  <a:rPr lang="en-IN" sz="2200" dirty="0"/>
                  <a:t>,</a:t>
                </a:r>
                <a:r>
                  <a:rPr lang="en-IN" sz="2200" i="1" dirty="0"/>
                  <a:t>S</a:t>
                </a:r>
                <a:r>
                  <a:rPr lang="en-IN" sz="2200" dirty="0"/>
                  <a:t>′)])−(1−E[</a:t>
                </a:r>
                <a:r>
                  <a:rPr lang="en-IN" sz="2200" dirty="0" err="1"/>
                  <a:t>IoU</a:t>
                </a:r>
                <a:r>
                  <a:rPr lang="en-IN" sz="2200" dirty="0"/>
                  <a:t>(</a:t>
                </a:r>
                <a:r>
                  <a:rPr lang="en-IN" sz="2200" i="1" dirty="0"/>
                  <a:t>Y</a:t>
                </a:r>
                <a:r>
                  <a:rPr lang="en-IN" sz="2200" dirty="0"/>
                  <a:t>,</a:t>
                </a:r>
                <a:r>
                  <a:rPr lang="en-IN" sz="2200" i="1" dirty="0"/>
                  <a:t>Y</a:t>
                </a:r>
                <a:r>
                  <a:rPr lang="en-IN" sz="2200" dirty="0"/>
                  <a:t>′)])</a:t>
                </a:r>
                <a:endParaRPr lang="en-IN" sz="1700" dirty="0"/>
              </a:p>
              <a:p>
                <a:pPr marL="0" indent="0">
                  <a:buNone/>
                </a:pPr>
                <a:br>
                  <a:rPr lang="en-IN" dirty="0"/>
                </a:br>
                <a:endParaRPr lang="en-IN" sz="2000" dirty="0"/>
              </a:p>
            </p:txBody>
          </p:sp>
        </mc:Choice>
        <mc:Fallback>
          <p:sp>
            <p:nvSpPr>
              <p:cNvPr id="3" name="Content Placeholder 2">
                <a:extLst>
                  <a:ext uri="{FF2B5EF4-FFF2-40B4-BE49-F238E27FC236}">
                    <a16:creationId xmlns:a16="http://schemas.microsoft.com/office/drawing/2014/main" id="{A05EE8B0-DF9B-86B6-153F-5827DB5D6D4F}"/>
                  </a:ext>
                </a:extLst>
              </p:cNvPr>
              <p:cNvSpPr>
                <a:spLocks noGrp="1" noRot="1" noChangeAspect="1" noMove="1" noResize="1" noEditPoints="1" noAdjustHandles="1" noChangeArrowheads="1" noChangeShapeType="1" noTextEdit="1"/>
              </p:cNvSpPr>
              <p:nvPr>
                <p:ph idx="1"/>
              </p:nvPr>
            </p:nvSpPr>
            <p:spPr>
              <a:blipFill>
                <a:blip r:embed="rId2"/>
                <a:stretch>
                  <a:fillRect l="-638" t="-1261"/>
                </a:stretch>
              </a:blipFill>
            </p:spPr>
            <p:txBody>
              <a:bodyPr/>
              <a:lstStyle/>
              <a:p>
                <a:r>
                  <a:rPr lang="en-IN">
                    <a:noFill/>
                  </a:rPr>
                  <a:t> </a:t>
                </a:r>
              </a:p>
            </p:txBody>
          </p:sp>
        </mc:Fallback>
      </mc:AlternateContent>
      <p:pic>
        <p:nvPicPr>
          <p:cNvPr id="26" name="Picture 25">
            <a:extLst>
              <a:ext uri="{FF2B5EF4-FFF2-40B4-BE49-F238E27FC236}">
                <a16:creationId xmlns:a16="http://schemas.microsoft.com/office/drawing/2014/main" id="{93023CFD-EFB5-69B7-9421-3A20F5AE0C57}"/>
              </a:ext>
            </a:extLst>
          </p:cNvPr>
          <p:cNvPicPr>
            <a:picLocks noChangeAspect="1"/>
          </p:cNvPicPr>
          <p:nvPr/>
        </p:nvPicPr>
        <p:blipFill>
          <a:blip r:embed="rId3"/>
          <a:srcRect t="23124" r="68863" b="-16922"/>
          <a:stretch>
            <a:fillRect/>
          </a:stretch>
        </p:blipFill>
        <p:spPr>
          <a:xfrm>
            <a:off x="1075266" y="2457307"/>
            <a:ext cx="1340556" cy="285894"/>
          </a:xfrm>
          <a:prstGeom prst="rect">
            <a:avLst/>
          </a:prstGeom>
        </p:spPr>
      </p:pic>
      <p:pic>
        <p:nvPicPr>
          <p:cNvPr id="5" name="Picture 4">
            <a:extLst>
              <a:ext uri="{FF2B5EF4-FFF2-40B4-BE49-F238E27FC236}">
                <a16:creationId xmlns:a16="http://schemas.microsoft.com/office/drawing/2014/main" id="{69B9B6E5-0ED5-C08F-4DD2-0D5493A04010}"/>
              </a:ext>
            </a:extLst>
          </p:cNvPr>
          <p:cNvPicPr>
            <a:picLocks noChangeAspect="1"/>
          </p:cNvPicPr>
          <p:nvPr/>
        </p:nvPicPr>
        <p:blipFill>
          <a:blip r:embed="rId4"/>
          <a:stretch>
            <a:fillRect/>
          </a:stretch>
        </p:blipFill>
        <p:spPr>
          <a:xfrm>
            <a:off x="995533" y="5283056"/>
            <a:ext cx="6963747" cy="1028844"/>
          </a:xfrm>
          <a:prstGeom prst="rect">
            <a:avLst/>
          </a:prstGeom>
        </p:spPr>
      </p:pic>
    </p:spTree>
    <p:extLst>
      <p:ext uri="{BB962C8B-B14F-4D97-AF65-F5344CB8AC3E}">
        <p14:creationId xmlns:p14="http://schemas.microsoft.com/office/powerpoint/2010/main" val="9510264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A444F-9382-F115-A181-7A97CE12E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F55703-E271-5908-98F2-BA0E12255D12}"/>
              </a:ext>
            </a:extLst>
          </p:cNvPr>
          <p:cNvSpPr>
            <a:spLocks noGrp="1"/>
          </p:cNvSpPr>
          <p:nvPr>
            <p:ph type="title"/>
          </p:nvPr>
        </p:nvSpPr>
        <p:spPr/>
        <p:txBody>
          <a:bodyPr/>
          <a:lstStyle/>
          <a:p>
            <a:r>
              <a:rPr lang="en-US" dirty="0"/>
              <a:t>Formulas – training objective</a:t>
            </a:r>
            <a:endParaRPr lang="en-IN" dirty="0"/>
          </a:p>
        </p:txBody>
      </p:sp>
      <p:pic>
        <p:nvPicPr>
          <p:cNvPr id="16" name="Content Placeholder 4">
            <a:extLst>
              <a:ext uri="{FF2B5EF4-FFF2-40B4-BE49-F238E27FC236}">
                <a16:creationId xmlns:a16="http://schemas.microsoft.com/office/drawing/2014/main" id="{7A3779E2-5A50-5463-04DD-012EFCCC1FA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85078" y="1898947"/>
            <a:ext cx="10002646" cy="752580"/>
          </a:xfrm>
        </p:spPr>
      </p:pic>
      <p:pic>
        <p:nvPicPr>
          <p:cNvPr id="17" name="Picture 16">
            <a:extLst>
              <a:ext uri="{FF2B5EF4-FFF2-40B4-BE49-F238E27FC236}">
                <a16:creationId xmlns:a16="http://schemas.microsoft.com/office/drawing/2014/main" id="{0B9CE777-6133-D197-FDBF-4BF9C51CA82F}"/>
              </a:ext>
            </a:extLst>
          </p:cNvPr>
          <p:cNvPicPr>
            <a:picLocks noChangeAspect="1"/>
          </p:cNvPicPr>
          <p:nvPr/>
        </p:nvPicPr>
        <p:blipFill>
          <a:blip r:embed="rId4">
            <a:extLst>
              <a:ext uri="{28A0092B-C50C-407E-A947-70E740481C1C}">
                <a14:useLocalDpi xmlns:a14="http://schemas.microsoft.com/office/drawing/2010/main" val="0"/>
              </a:ext>
            </a:extLst>
          </a:blip>
          <a:srcRect b="5943"/>
          <a:stretch>
            <a:fillRect/>
          </a:stretch>
        </p:blipFill>
        <p:spPr>
          <a:xfrm>
            <a:off x="885078" y="3529362"/>
            <a:ext cx="10355120" cy="952633"/>
          </a:xfrm>
          <a:prstGeom prst="rect">
            <a:avLst/>
          </a:prstGeom>
        </p:spPr>
      </p:pic>
      <p:sp>
        <p:nvSpPr>
          <p:cNvPr id="18" name="TextBox 17">
            <a:extLst>
              <a:ext uri="{FF2B5EF4-FFF2-40B4-BE49-F238E27FC236}">
                <a16:creationId xmlns:a16="http://schemas.microsoft.com/office/drawing/2014/main" id="{63B620ED-F148-6669-F33E-34037A0B2044}"/>
              </a:ext>
            </a:extLst>
          </p:cNvPr>
          <p:cNvSpPr txBox="1"/>
          <p:nvPr/>
        </p:nvSpPr>
        <p:spPr>
          <a:xfrm>
            <a:off x="838200" y="1557687"/>
            <a:ext cx="2058320" cy="369332"/>
          </a:xfrm>
          <a:prstGeom prst="rect">
            <a:avLst/>
          </a:prstGeom>
          <a:noFill/>
        </p:spPr>
        <p:txBody>
          <a:bodyPr wrap="none" rtlCol="0">
            <a:spAutoFit/>
          </a:bodyPr>
          <a:lstStyle/>
          <a:p>
            <a:r>
              <a:rPr lang="en-US" b="1" dirty="0"/>
              <a:t>Training Objective</a:t>
            </a:r>
            <a:endParaRPr lang="en-IN" b="1" dirty="0"/>
          </a:p>
        </p:txBody>
      </p:sp>
      <p:sp>
        <p:nvSpPr>
          <p:cNvPr id="4" name="TextBox 3">
            <a:extLst>
              <a:ext uri="{FF2B5EF4-FFF2-40B4-BE49-F238E27FC236}">
                <a16:creationId xmlns:a16="http://schemas.microsoft.com/office/drawing/2014/main" id="{7D1E3638-6080-3FAD-A991-CFCD312B212B}"/>
              </a:ext>
            </a:extLst>
          </p:cNvPr>
          <p:cNvSpPr txBox="1"/>
          <p:nvPr/>
        </p:nvSpPr>
        <p:spPr>
          <a:xfrm>
            <a:off x="1041400" y="4490201"/>
            <a:ext cx="6096000" cy="369332"/>
          </a:xfrm>
          <a:prstGeom prst="rect">
            <a:avLst/>
          </a:prstGeom>
          <a:noFill/>
        </p:spPr>
        <p:txBody>
          <a:bodyPr wrap="square">
            <a:spAutoFit/>
          </a:bodyPr>
          <a:lstStyle/>
          <a:p>
            <a:r>
              <a:rPr lang="en-US" i="0" dirty="0" err="1">
                <a:effectLst/>
              </a:rPr>
              <a:t>Geco</a:t>
            </a:r>
            <a:r>
              <a:rPr lang="en-US" i="0" dirty="0">
                <a:effectLst/>
              </a:rPr>
              <a:t> : Generalized ELBO with Constrained Optimization.</a:t>
            </a:r>
            <a:endParaRPr lang="en-IN" dirty="0"/>
          </a:p>
        </p:txBody>
      </p:sp>
      <p:sp>
        <p:nvSpPr>
          <p:cNvPr id="5" name="TextBox 4">
            <a:extLst>
              <a:ext uri="{FF2B5EF4-FFF2-40B4-BE49-F238E27FC236}">
                <a16:creationId xmlns:a16="http://schemas.microsoft.com/office/drawing/2014/main" id="{6C88EFC7-E9B9-EF54-68BD-AA41D1BC4686}"/>
              </a:ext>
            </a:extLst>
          </p:cNvPr>
          <p:cNvSpPr txBox="1"/>
          <p:nvPr/>
        </p:nvSpPr>
        <p:spPr>
          <a:xfrm>
            <a:off x="1105360" y="2750249"/>
            <a:ext cx="6096000" cy="369332"/>
          </a:xfrm>
          <a:prstGeom prst="rect">
            <a:avLst/>
          </a:prstGeom>
          <a:noFill/>
        </p:spPr>
        <p:txBody>
          <a:bodyPr wrap="square">
            <a:spAutoFit/>
          </a:bodyPr>
          <a:lstStyle/>
          <a:p>
            <a:r>
              <a:rPr lang="en-US" dirty="0"/>
              <a:t>Elbo</a:t>
            </a:r>
            <a:r>
              <a:rPr lang="en-US" i="0" dirty="0">
                <a:effectLst/>
              </a:rPr>
              <a:t> : Evidence lower bound</a:t>
            </a:r>
            <a:endParaRPr lang="en-IN" dirty="0"/>
          </a:p>
        </p:txBody>
      </p:sp>
    </p:spTree>
    <p:extLst>
      <p:ext uri="{BB962C8B-B14F-4D97-AF65-F5344CB8AC3E}">
        <p14:creationId xmlns:p14="http://schemas.microsoft.com/office/powerpoint/2010/main" val="27737675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E6415-C100-A2E0-80A9-FDDEC579B414}"/>
              </a:ext>
            </a:extLst>
          </p:cNvPr>
          <p:cNvSpPr>
            <a:spLocks noGrp="1"/>
          </p:cNvSpPr>
          <p:nvPr>
            <p:ph type="title"/>
          </p:nvPr>
        </p:nvSpPr>
        <p:spPr/>
        <p:txBody>
          <a:bodyPr/>
          <a:lstStyle/>
          <a:p>
            <a:r>
              <a:rPr lang="en-US" dirty="0"/>
              <a:t>Formulas</a:t>
            </a:r>
            <a:endParaRPr lang="en-IN" dirty="0"/>
          </a:p>
        </p:txBody>
      </p:sp>
      <p:sp>
        <p:nvSpPr>
          <p:cNvPr id="9" name="TextBox 8">
            <a:extLst>
              <a:ext uri="{FF2B5EF4-FFF2-40B4-BE49-F238E27FC236}">
                <a16:creationId xmlns:a16="http://schemas.microsoft.com/office/drawing/2014/main" id="{C2C4169E-69A7-B2A7-0852-14512D7F0317}"/>
              </a:ext>
            </a:extLst>
          </p:cNvPr>
          <p:cNvSpPr txBox="1"/>
          <p:nvPr/>
        </p:nvSpPr>
        <p:spPr>
          <a:xfrm>
            <a:off x="838200" y="1561771"/>
            <a:ext cx="1172116" cy="369332"/>
          </a:xfrm>
          <a:prstGeom prst="rect">
            <a:avLst/>
          </a:prstGeom>
          <a:noFill/>
        </p:spPr>
        <p:txBody>
          <a:bodyPr wrap="none" rtlCol="0">
            <a:spAutoFit/>
          </a:bodyPr>
          <a:lstStyle/>
          <a:p>
            <a:r>
              <a:rPr lang="en-US" b="1" dirty="0"/>
              <a:t>Sampling</a:t>
            </a:r>
            <a:endParaRPr lang="en-IN" b="1" dirty="0"/>
          </a:p>
        </p:txBody>
      </p:sp>
      <p:pic>
        <p:nvPicPr>
          <p:cNvPr id="11" name="Picture 10">
            <a:extLst>
              <a:ext uri="{FF2B5EF4-FFF2-40B4-BE49-F238E27FC236}">
                <a16:creationId xmlns:a16="http://schemas.microsoft.com/office/drawing/2014/main" id="{119B1623-F158-AFB8-0DF7-29F6A1DFD598}"/>
              </a:ext>
            </a:extLst>
          </p:cNvPr>
          <p:cNvPicPr>
            <a:picLocks noChangeAspect="1"/>
          </p:cNvPicPr>
          <p:nvPr/>
        </p:nvPicPr>
        <p:blipFill>
          <a:blip r:embed="rId3"/>
          <a:stretch>
            <a:fillRect/>
          </a:stretch>
        </p:blipFill>
        <p:spPr>
          <a:xfrm>
            <a:off x="885078" y="2286279"/>
            <a:ext cx="5953125" cy="476250"/>
          </a:xfrm>
          <a:prstGeom prst="rect">
            <a:avLst/>
          </a:prstGeom>
        </p:spPr>
      </p:pic>
      <p:pic>
        <p:nvPicPr>
          <p:cNvPr id="13" name="Picture 12">
            <a:extLst>
              <a:ext uri="{FF2B5EF4-FFF2-40B4-BE49-F238E27FC236}">
                <a16:creationId xmlns:a16="http://schemas.microsoft.com/office/drawing/2014/main" id="{4B6B0EB0-83AE-053E-8194-C33BFA49FB5D}"/>
              </a:ext>
            </a:extLst>
          </p:cNvPr>
          <p:cNvPicPr>
            <a:picLocks noChangeAspect="1"/>
          </p:cNvPicPr>
          <p:nvPr/>
        </p:nvPicPr>
        <p:blipFill>
          <a:blip r:embed="rId4"/>
          <a:stretch>
            <a:fillRect/>
          </a:stretch>
        </p:blipFill>
        <p:spPr>
          <a:xfrm>
            <a:off x="914351" y="2997647"/>
            <a:ext cx="4972050" cy="466725"/>
          </a:xfrm>
          <a:prstGeom prst="rect">
            <a:avLst/>
          </a:prstGeom>
        </p:spPr>
      </p:pic>
      <p:sp>
        <p:nvSpPr>
          <p:cNvPr id="18" name="TextBox 17">
            <a:extLst>
              <a:ext uri="{FF2B5EF4-FFF2-40B4-BE49-F238E27FC236}">
                <a16:creationId xmlns:a16="http://schemas.microsoft.com/office/drawing/2014/main" id="{AFF19A50-7D4E-ABEC-9592-41916101DFA7}"/>
              </a:ext>
            </a:extLst>
          </p:cNvPr>
          <p:cNvSpPr txBox="1"/>
          <p:nvPr/>
        </p:nvSpPr>
        <p:spPr>
          <a:xfrm>
            <a:off x="914400" y="3964078"/>
            <a:ext cx="1005788" cy="369332"/>
          </a:xfrm>
          <a:prstGeom prst="rect">
            <a:avLst/>
          </a:prstGeom>
          <a:noFill/>
        </p:spPr>
        <p:txBody>
          <a:bodyPr wrap="none" rtlCol="0">
            <a:spAutoFit/>
          </a:bodyPr>
          <a:lstStyle/>
          <a:p>
            <a:r>
              <a:rPr lang="en-US" b="1" dirty="0"/>
              <a:t>Training</a:t>
            </a:r>
            <a:endParaRPr lang="en-IN" b="1" dirty="0"/>
          </a:p>
        </p:txBody>
      </p:sp>
      <p:pic>
        <p:nvPicPr>
          <p:cNvPr id="19" name="Picture 18">
            <a:extLst>
              <a:ext uri="{FF2B5EF4-FFF2-40B4-BE49-F238E27FC236}">
                <a16:creationId xmlns:a16="http://schemas.microsoft.com/office/drawing/2014/main" id="{90939445-207C-9049-81E1-858DB1623327}"/>
              </a:ext>
            </a:extLst>
          </p:cNvPr>
          <p:cNvPicPr>
            <a:picLocks noChangeAspect="1"/>
          </p:cNvPicPr>
          <p:nvPr/>
        </p:nvPicPr>
        <p:blipFill>
          <a:blip r:embed="rId5"/>
          <a:stretch>
            <a:fillRect/>
          </a:stretch>
        </p:blipFill>
        <p:spPr>
          <a:xfrm>
            <a:off x="838200" y="4477079"/>
            <a:ext cx="7219950" cy="819150"/>
          </a:xfrm>
          <a:prstGeom prst="rect">
            <a:avLst/>
          </a:prstGeom>
        </p:spPr>
      </p:pic>
    </p:spTree>
    <p:extLst>
      <p:ext uri="{BB962C8B-B14F-4D97-AF65-F5344CB8AC3E}">
        <p14:creationId xmlns:p14="http://schemas.microsoft.com/office/powerpoint/2010/main" val="2691742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oup of blue graphs&#10;&#10;AI-generated content may be incorrect.">
            <a:extLst>
              <a:ext uri="{FF2B5EF4-FFF2-40B4-BE49-F238E27FC236}">
                <a16:creationId xmlns:a16="http://schemas.microsoft.com/office/drawing/2014/main" id="{C2E78C53-E3CE-AA3B-58E3-8E0A13429D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33458" r="31027" b="33090"/>
          <a:stretch>
            <a:fillRect/>
          </a:stretch>
        </p:blipFill>
        <p:spPr>
          <a:xfrm>
            <a:off x="406400" y="1080572"/>
            <a:ext cx="6413164" cy="2324100"/>
          </a:xfrm>
        </p:spPr>
      </p:pic>
      <p:sp>
        <p:nvSpPr>
          <p:cNvPr id="6" name="TextBox 5">
            <a:extLst>
              <a:ext uri="{FF2B5EF4-FFF2-40B4-BE49-F238E27FC236}">
                <a16:creationId xmlns:a16="http://schemas.microsoft.com/office/drawing/2014/main" id="{D1BE02EB-771F-4A5F-AC19-FBABE59BBAF8}"/>
              </a:ext>
            </a:extLst>
          </p:cNvPr>
          <p:cNvSpPr txBox="1"/>
          <p:nvPr/>
        </p:nvSpPr>
        <p:spPr>
          <a:xfrm>
            <a:off x="5283200" y="711240"/>
            <a:ext cx="1077539" cy="369332"/>
          </a:xfrm>
          <a:prstGeom prst="rect">
            <a:avLst/>
          </a:prstGeom>
          <a:noFill/>
        </p:spPr>
        <p:txBody>
          <a:bodyPr wrap="none" rtlCol="0">
            <a:spAutoFit/>
          </a:bodyPr>
          <a:lstStyle/>
          <a:p>
            <a:r>
              <a:rPr lang="en-US" dirty="0"/>
              <a:t>HPU-Net</a:t>
            </a:r>
            <a:endParaRPr lang="en-IN" dirty="0"/>
          </a:p>
        </p:txBody>
      </p:sp>
      <p:pic>
        <p:nvPicPr>
          <p:cNvPr id="8" name="Picture 7" descr="A group of blue graphs&#10;&#10;AI-generated content may be incorrect.">
            <a:extLst>
              <a:ext uri="{FF2B5EF4-FFF2-40B4-BE49-F238E27FC236}">
                <a16:creationId xmlns:a16="http://schemas.microsoft.com/office/drawing/2014/main" id="{024A7DD0-7501-7C95-1BF6-532AFE0796B3}"/>
              </a:ext>
            </a:extLst>
          </p:cNvPr>
          <p:cNvPicPr>
            <a:picLocks noChangeAspect="1"/>
          </p:cNvPicPr>
          <p:nvPr/>
        </p:nvPicPr>
        <p:blipFill>
          <a:blip r:embed="rId2">
            <a:extLst>
              <a:ext uri="{28A0092B-C50C-407E-A947-70E740481C1C}">
                <a14:useLocalDpi xmlns:a14="http://schemas.microsoft.com/office/drawing/2010/main" val="0"/>
              </a:ext>
            </a:extLst>
          </a:blip>
          <a:srcRect l="69371" r="1156" b="66111"/>
          <a:stretch>
            <a:fillRect/>
          </a:stretch>
        </p:blipFill>
        <p:spPr>
          <a:xfrm>
            <a:off x="6819564" y="1036638"/>
            <a:ext cx="2756236" cy="2368034"/>
          </a:xfrm>
          <a:prstGeom prst="rect">
            <a:avLst/>
          </a:prstGeom>
        </p:spPr>
      </p:pic>
      <p:pic>
        <p:nvPicPr>
          <p:cNvPr id="10" name="Picture 9" descr="A graph of a graph of a train">
            <a:extLst>
              <a:ext uri="{FF2B5EF4-FFF2-40B4-BE49-F238E27FC236}">
                <a16:creationId xmlns:a16="http://schemas.microsoft.com/office/drawing/2014/main" id="{CBE717FF-DFDD-010D-45AB-EAC0838B8133}"/>
              </a:ext>
            </a:extLst>
          </p:cNvPr>
          <p:cNvPicPr>
            <a:picLocks noChangeAspect="1"/>
          </p:cNvPicPr>
          <p:nvPr/>
        </p:nvPicPr>
        <p:blipFill>
          <a:blip r:embed="rId3">
            <a:extLst>
              <a:ext uri="{28A0092B-C50C-407E-A947-70E740481C1C}">
                <a14:useLocalDpi xmlns:a14="http://schemas.microsoft.com/office/drawing/2010/main" val="0"/>
              </a:ext>
            </a:extLst>
          </a:blip>
          <a:srcRect t="1344" b="50361"/>
          <a:stretch>
            <a:fillRect/>
          </a:stretch>
        </p:blipFill>
        <p:spPr>
          <a:xfrm>
            <a:off x="1676548" y="3982007"/>
            <a:ext cx="7483327" cy="2698154"/>
          </a:xfrm>
          <a:prstGeom prst="rect">
            <a:avLst/>
          </a:prstGeom>
        </p:spPr>
      </p:pic>
      <p:sp>
        <p:nvSpPr>
          <p:cNvPr id="11" name="TextBox 10">
            <a:extLst>
              <a:ext uri="{FF2B5EF4-FFF2-40B4-BE49-F238E27FC236}">
                <a16:creationId xmlns:a16="http://schemas.microsoft.com/office/drawing/2014/main" id="{76F4A525-CA28-5A9C-85CC-68EB3096AED4}"/>
              </a:ext>
            </a:extLst>
          </p:cNvPr>
          <p:cNvSpPr txBox="1"/>
          <p:nvPr/>
        </p:nvSpPr>
        <p:spPr>
          <a:xfrm>
            <a:off x="5143500" y="3612675"/>
            <a:ext cx="1026243" cy="369332"/>
          </a:xfrm>
          <a:prstGeom prst="rect">
            <a:avLst/>
          </a:prstGeom>
          <a:noFill/>
        </p:spPr>
        <p:txBody>
          <a:bodyPr wrap="none" rtlCol="0">
            <a:spAutoFit/>
          </a:bodyPr>
          <a:lstStyle/>
          <a:p>
            <a:r>
              <a:rPr lang="en-US" dirty="0" err="1"/>
              <a:t>sPU</a:t>
            </a:r>
            <a:r>
              <a:rPr lang="en-US" dirty="0"/>
              <a:t>-Net</a:t>
            </a:r>
            <a:endParaRPr lang="en-IN" dirty="0"/>
          </a:p>
        </p:txBody>
      </p:sp>
    </p:spTree>
    <p:extLst>
      <p:ext uri="{BB962C8B-B14F-4D97-AF65-F5344CB8AC3E}">
        <p14:creationId xmlns:p14="http://schemas.microsoft.com/office/powerpoint/2010/main" val="25169504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81409-0FF2-CE5C-8BA7-15B9DCA3FB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6F9998-D0EE-D99B-8302-EC5DA99E18D9}"/>
              </a:ext>
            </a:extLst>
          </p:cNvPr>
          <p:cNvSpPr>
            <a:spLocks noGrp="1"/>
          </p:cNvSpPr>
          <p:nvPr>
            <p:ph type="title"/>
          </p:nvPr>
        </p:nvSpPr>
        <p:spPr/>
        <p:txBody>
          <a:bodyPr>
            <a:normAutofit/>
          </a:bodyPr>
          <a:lstStyle/>
          <a:p>
            <a:pPr algn="ctr"/>
            <a:r>
              <a:rPr lang="en-IN" dirty="0"/>
              <a:t>A Hierarchical Probabilistic U-Net for </a:t>
            </a:r>
            <a:r>
              <a:rPr lang="en-IN" dirty="0" err="1"/>
              <a:t>Modeling</a:t>
            </a:r>
            <a:r>
              <a:rPr lang="en-IN" dirty="0"/>
              <a:t> Multi-Scale Ambiguities</a:t>
            </a:r>
          </a:p>
        </p:txBody>
      </p:sp>
      <p:pic>
        <p:nvPicPr>
          <p:cNvPr id="4" name="Content Placeholder 4">
            <a:extLst>
              <a:ext uri="{FF2B5EF4-FFF2-40B4-BE49-F238E27FC236}">
                <a16:creationId xmlns:a16="http://schemas.microsoft.com/office/drawing/2014/main" id="{E7B07CCB-87D7-CC41-6042-B0B7878BE380}"/>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1176"/>
          <a:stretch>
            <a:fillRect/>
          </a:stretch>
        </p:blipFill>
        <p:spPr>
          <a:xfrm>
            <a:off x="2412971" y="2029246"/>
            <a:ext cx="7366058" cy="3605330"/>
          </a:xfrm>
        </p:spPr>
      </p:pic>
      <p:sp>
        <p:nvSpPr>
          <p:cNvPr id="7" name="TextBox 6">
            <a:extLst>
              <a:ext uri="{FF2B5EF4-FFF2-40B4-BE49-F238E27FC236}">
                <a16:creationId xmlns:a16="http://schemas.microsoft.com/office/drawing/2014/main" id="{02C25548-D5C9-38A6-1D0E-8BC971F17D6F}"/>
              </a:ext>
            </a:extLst>
          </p:cNvPr>
          <p:cNvSpPr txBox="1"/>
          <p:nvPr/>
        </p:nvSpPr>
        <p:spPr>
          <a:xfrm>
            <a:off x="590550" y="6316991"/>
            <a:ext cx="11287125" cy="276999"/>
          </a:xfrm>
          <a:prstGeom prst="rect">
            <a:avLst/>
          </a:prstGeom>
          <a:noFill/>
        </p:spPr>
        <p:txBody>
          <a:bodyPr wrap="square">
            <a:spAutoFit/>
          </a:bodyPr>
          <a:lstStyle/>
          <a:p>
            <a:r>
              <a:rPr lang="en-IN" sz="1200" b="0" i="0" dirty="0">
                <a:solidFill>
                  <a:srgbClr val="222222"/>
                </a:solidFill>
                <a:effectLst/>
                <a:latin typeface="Arial" panose="020B0604020202020204" pitchFamily="34" charset="0"/>
              </a:rPr>
              <a:t>Source : Kohl, Simon AA, et al. "A hierarchical probabilistic u-net for </a:t>
            </a:r>
            <a:r>
              <a:rPr lang="en-IN" sz="1200" b="0" i="0" dirty="0" err="1">
                <a:solidFill>
                  <a:srgbClr val="222222"/>
                </a:solidFill>
                <a:effectLst/>
                <a:latin typeface="Arial" panose="020B0604020202020204" pitchFamily="34" charset="0"/>
              </a:rPr>
              <a:t>modeling</a:t>
            </a:r>
            <a:r>
              <a:rPr lang="en-IN" sz="1200" b="0" i="0" dirty="0">
                <a:solidFill>
                  <a:srgbClr val="222222"/>
                </a:solidFill>
                <a:effectLst/>
                <a:latin typeface="Arial" panose="020B0604020202020204" pitchFamily="34" charset="0"/>
              </a:rPr>
              <a:t> multi-scale ambiguities." </a:t>
            </a:r>
            <a:r>
              <a:rPr lang="en-IN" sz="1200" b="0" i="1" dirty="0" err="1">
                <a:solidFill>
                  <a:srgbClr val="222222"/>
                </a:solidFill>
                <a:effectLst/>
                <a:latin typeface="Arial" panose="020B0604020202020204" pitchFamily="34" charset="0"/>
              </a:rPr>
              <a:t>arXiv</a:t>
            </a:r>
            <a:r>
              <a:rPr lang="en-IN" sz="1200" b="0" i="1" dirty="0">
                <a:solidFill>
                  <a:srgbClr val="222222"/>
                </a:solidFill>
                <a:effectLst/>
                <a:latin typeface="Arial" panose="020B0604020202020204" pitchFamily="34" charset="0"/>
              </a:rPr>
              <a:t> preprint arXiv:1905.13077</a:t>
            </a:r>
            <a:r>
              <a:rPr lang="en-IN" sz="1200" b="0" i="0" dirty="0">
                <a:solidFill>
                  <a:srgbClr val="222222"/>
                </a:solidFill>
                <a:effectLst/>
                <a:latin typeface="Arial" panose="020B0604020202020204" pitchFamily="34" charset="0"/>
              </a:rPr>
              <a:t> (2019).</a:t>
            </a:r>
            <a:endParaRPr lang="en-IN" sz="1200" dirty="0"/>
          </a:p>
        </p:txBody>
      </p:sp>
    </p:spTree>
    <p:extLst>
      <p:ext uri="{BB962C8B-B14F-4D97-AF65-F5344CB8AC3E}">
        <p14:creationId xmlns:p14="http://schemas.microsoft.com/office/powerpoint/2010/main" val="804981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3240</TotalTime>
  <Words>2183</Words>
  <Application>Microsoft Office PowerPoint</Application>
  <PresentationFormat>Widescreen</PresentationFormat>
  <Paragraphs>222</Paragraphs>
  <Slides>33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Aptos Display</vt:lpstr>
      <vt:lpstr>Arial</vt:lpstr>
      <vt:lpstr>Cambria Math</vt:lpstr>
      <vt:lpstr>Office Theme</vt:lpstr>
      <vt:lpstr>Reproduce Research Result</vt:lpstr>
      <vt:lpstr>A Hierarchical Probabilistic U-Net for Modeling Multi-Scale Ambiguities</vt:lpstr>
      <vt:lpstr>Overview</vt:lpstr>
      <vt:lpstr>Motivation</vt:lpstr>
      <vt:lpstr>U-Net</vt:lpstr>
      <vt:lpstr>Hierarchical Probabilistic U-Net (HPU-Net)</vt:lpstr>
      <vt:lpstr>Probabilistic U-Net (sPU-Net)</vt:lpstr>
      <vt:lpstr>Probabilistic U-Net (sPU-Net)</vt:lpstr>
      <vt:lpstr>Probabilistic U-Net (sPU-Net)</vt:lpstr>
      <vt:lpstr>Limitations of sPU-Net</vt:lpstr>
      <vt:lpstr>HPU-Net</vt:lpstr>
      <vt:lpstr>Training Parameters</vt:lpstr>
      <vt:lpstr>Results - original</vt:lpstr>
      <vt:lpstr>Results - reproduced</vt:lpstr>
      <vt:lpstr>Performance metrics comparison </vt:lpstr>
      <vt:lpstr>THANK YOU </vt:lpstr>
      <vt:lpstr>Questions?</vt:lpstr>
      <vt:lpstr>PowerPoint Presentation</vt:lpstr>
      <vt:lpstr>Data</vt:lpstr>
      <vt:lpstr>Architecture</vt:lpstr>
      <vt:lpstr>Training</vt:lpstr>
      <vt:lpstr>Results</vt:lpstr>
      <vt:lpstr>Results</vt:lpstr>
      <vt:lpstr>Results</vt:lpstr>
      <vt:lpstr>Results</vt:lpstr>
      <vt:lpstr>Runtime</vt:lpstr>
      <vt:lpstr>sPU-Net</vt:lpstr>
      <vt:lpstr>HPU-Net</vt:lpstr>
      <vt:lpstr>Metrics</vt:lpstr>
      <vt:lpstr>Formulas – training objective</vt:lpstr>
      <vt:lpstr>Formulas</vt:lpstr>
      <vt:lpstr>PowerPoint Presentation</vt:lpstr>
      <vt:lpstr>A Hierarchical Probabilistic U-Net for Modeling Multi-Scale Ambiguities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Doddbele Aswatha Narayana, Divyashree</dc:creator>
  <cp:lastModifiedBy>Doddbele Aswatha Narayana, Divyashree</cp:lastModifiedBy>
  <cp:revision>253</cp:revision>
  <dcterms:created xsi:type="dcterms:W3CDTF">2025-09-30T07:47:49Z</dcterms:created>
  <dcterms:modified xsi:type="dcterms:W3CDTF">2025-10-05T19:23:50Z</dcterms:modified>
</cp:coreProperties>
</file>